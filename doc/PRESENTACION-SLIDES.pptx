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2811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"Os presento mi TFM: un motor de reglas que decide qué oferta hipotecaria asignar a un cliente. Pero el foco de hoy no es el motor en sí, sino cómo lo he construido con IA."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contexto real. No es un ejercicio inventado: nace de una necesidad concreta de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clave de diseño es separar la lógica (reglas) de los valores (parámetros) y que ambos sean editables y datados.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reproduce el flujo real del simulador hipotecario, de menos a más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este es el mensaje central del TFM. Decirlo con claridad y sin rodeos.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honestidad técnica. En un máster de IA es fácil sobrevender "uso IA en todo". Lo valioso es distinguir la IA-herramienta-de-construcción de la IA-en-producción.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enseñar `prompts/prompts.md` y `.opencode/prompts/dnf-engine.md` como prueba de que los prompts están versionados, no improvisados.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 la demo, abrir `openspec/changes/archive/` y enseñar el rastro real de un cambio (proposal → spec → design → tasks → verify). Es la prueba tangible de que no es *vibe-coding*.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ejemplo concreto donde la IA ayudó de verdad — aplicar De Morgan de forma sistemática y sin errores al traducir decenas de condiciones.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aquí sí hay complejidad real. Mostrar el configurador en la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cierra el círculo: no es un juguete aislado, se integra y se contrasta con producción.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los 25 *skipped* son tests *live* que necesitan SQL Server real; se omiten por diseño.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destacar que el núcleo del motor no tiene dependencias — fácil de migrar al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tener los datos de ejemplo preparados de antemano. Ver guion de vídeo para el detalle.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reflexión personal honesta — es lo que más valora un tribunal.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dejar la portada de contacto unos segundos para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64592" cy="146304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Motor de Reglas de Ofertas Hipotecarias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7D3E8"/>
                </a:solidFill>
              </a:rPr>
              <a:t>Trabajo Fin de Máster · Máster en Desarrollo de Software potenciado con IA — BIG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C7D3E8"/>
                </a:solidFill>
              </a:rPr>
              <a:t>Autor: Jesús M. Broceño</a:t>
            </a:r>
          </a:p>
          <a:p>
            <a:r>
              <a:rPr sz="1600">
                <a:solidFill>
                  <a:srgbClr val="C7D3E8"/>
                </a:solidFill>
              </a:rPr>
              <a:t>Junio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El problema de negocio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Un banco quiere ofrecer precios diferenciados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Cada </a:t>
            </a:r>
            <a:r>
              <a:rPr sz="1800" dirty="0" err="1">
                <a:solidFill>
                  <a:srgbClr val="222222"/>
                </a:solidFill>
              </a:rPr>
              <a:t>perfil</a:t>
            </a:r>
            <a:r>
              <a:rPr sz="1800" dirty="0">
                <a:solidFill>
                  <a:srgbClr val="222222"/>
                </a:solidFill>
              </a:rPr>
              <a:t> de </a:t>
            </a:r>
            <a:r>
              <a:rPr sz="1800" dirty="0" err="1">
                <a:solidFill>
                  <a:srgbClr val="222222"/>
                </a:solidFill>
              </a:rPr>
              <a:t>cliente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tiene</a:t>
            </a:r>
            <a:r>
              <a:rPr sz="1800" dirty="0">
                <a:solidFill>
                  <a:srgbClr val="222222"/>
                </a:solidFill>
              </a:rPr>
              <a:t> derecho a </a:t>
            </a:r>
            <a:r>
              <a:rPr sz="1800" dirty="0" err="1">
                <a:solidFill>
                  <a:srgbClr val="222222"/>
                </a:solidFill>
              </a:rPr>
              <a:t>una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oferta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distinta</a:t>
            </a:r>
            <a:r>
              <a:rPr lang="es-ES" sz="1800" dirty="0">
                <a:solidFill>
                  <a:srgbClr val="222222"/>
                </a:solidFill>
              </a:rPr>
              <a:t> que además permite extender parámetros estándar </a:t>
            </a:r>
            <a:r>
              <a:rPr sz="1800" dirty="0">
                <a:solidFill>
                  <a:srgbClr val="222222"/>
                </a:solidFill>
              </a:rPr>
              <a:t>(LTV, </a:t>
            </a:r>
            <a:r>
              <a:rPr sz="1800" dirty="0" err="1">
                <a:solidFill>
                  <a:srgbClr val="222222"/>
                </a:solidFill>
              </a:rPr>
              <a:t>plazo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importe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edad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ingresos</a:t>
            </a:r>
            <a:r>
              <a:rPr sz="1800" dirty="0">
                <a:solidFill>
                  <a:srgbClr val="222222"/>
                </a:solidFill>
              </a:rPr>
              <a:t>…)</a:t>
            </a: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El </a:t>
            </a:r>
            <a:r>
              <a:rPr sz="1800" dirty="0" err="1">
                <a:solidFill>
                  <a:srgbClr val="222222"/>
                </a:solidFill>
              </a:rPr>
              <a:t>precio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debe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calcularse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lang="es-ES" sz="1800" dirty="0">
                <a:solidFill>
                  <a:srgbClr val="222222"/>
                </a:solidFill>
              </a:rPr>
              <a:t>con cada cambio en las condiciones del préstamo</a:t>
            </a:r>
            <a:endParaRPr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Cada </a:t>
            </a:r>
            <a:r>
              <a:rPr sz="1800" dirty="0" err="1">
                <a:solidFill>
                  <a:srgbClr val="222222"/>
                </a:solidFill>
              </a:rPr>
              <a:t>oferta</a:t>
            </a:r>
            <a:r>
              <a:rPr sz="1800" dirty="0">
                <a:solidFill>
                  <a:srgbClr val="222222"/>
                </a:solidFill>
              </a:rPr>
              <a:t> se </a:t>
            </a:r>
            <a:r>
              <a:rPr sz="1800" dirty="0" err="1">
                <a:solidFill>
                  <a:srgbClr val="222222"/>
                </a:solidFill>
              </a:rPr>
              <a:t>identifica</a:t>
            </a:r>
            <a:r>
              <a:rPr sz="1800" dirty="0">
                <a:solidFill>
                  <a:srgbClr val="222222"/>
                </a:solidFill>
              </a:rPr>
              <a:t> de forma </a:t>
            </a:r>
            <a:r>
              <a:rPr sz="1800" dirty="0" err="1">
                <a:solidFill>
                  <a:srgbClr val="222222"/>
                </a:solidFill>
              </a:rPr>
              <a:t>diferenciada</a:t>
            </a:r>
            <a:r>
              <a:rPr sz="1800" dirty="0">
                <a:solidFill>
                  <a:srgbClr val="222222"/>
                </a:solidFill>
              </a:rPr>
              <a:t> ante el motor de </a:t>
            </a:r>
            <a:r>
              <a:rPr sz="1800" dirty="0" err="1">
                <a:solidFill>
                  <a:srgbClr val="222222"/>
                </a:solidFill>
              </a:rPr>
              <a:t>riesgos</a:t>
            </a:r>
            <a:r>
              <a:rPr lang="es-ES" sz="1800" dirty="0">
                <a:solidFill>
                  <a:srgbClr val="222222"/>
                </a:solidFill>
              </a:rPr>
              <a:t> de la entidad</a:t>
            </a:r>
            <a:endParaRPr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Las </a:t>
            </a:r>
            <a:r>
              <a:rPr sz="1800" dirty="0" err="1">
                <a:solidFill>
                  <a:srgbClr val="222222"/>
                </a:solidFill>
              </a:rPr>
              <a:t>condiciones</a:t>
            </a:r>
            <a:r>
              <a:rPr lang="es-ES"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cambian</a:t>
            </a:r>
            <a:r>
              <a:rPr sz="1800" dirty="0">
                <a:solidFill>
                  <a:srgbClr val="222222"/>
                </a:solidFill>
              </a:rPr>
              <a:t> con el </a:t>
            </a:r>
            <a:r>
              <a:rPr sz="1800" dirty="0" err="1">
                <a:solidFill>
                  <a:srgbClr val="222222"/>
                </a:solidFill>
              </a:rPr>
              <a:t>tiempo</a:t>
            </a:r>
            <a:r>
              <a:rPr sz="1800" dirty="0">
                <a:solidFill>
                  <a:srgbClr val="222222"/>
                </a:solidFill>
              </a:rPr>
              <a:t> → hay </a:t>
            </a:r>
            <a:r>
              <a:rPr sz="1800" dirty="0" err="1">
                <a:solidFill>
                  <a:srgbClr val="222222"/>
                </a:solidFill>
              </a:rPr>
              <a:t>que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historificar</a:t>
            </a:r>
            <a:r>
              <a:rPr sz="1800" dirty="0">
                <a:solidFill>
                  <a:srgbClr val="222222"/>
                </a:solidFill>
              </a:rPr>
              <a:t> y </a:t>
            </a:r>
            <a:r>
              <a:rPr sz="1800" dirty="0" err="1">
                <a:solidFill>
                  <a:srgbClr val="222222"/>
                </a:solidFill>
              </a:rPr>
              <a:t>poder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simular</a:t>
            </a:r>
            <a:endParaRPr lang="es-ES"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lang="es-ES" dirty="0">
                <a:solidFill>
                  <a:srgbClr val="222222"/>
                </a:solidFill>
              </a:rPr>
              <a:t>•  La solución completa debe estar implementada en menos de 2 meses (el motor de elegibilidad de ofertas es solo una pequeña parte del problema). </a:t>
            </a:r>
          </a:p>
          <a:p>
            <a:pPr>
              <a:spcAft>
                <a:spcPts val="1200"/>
              </a:spcAft>
            </a:pPr>
            <a:endParaRPr lang="es-ES"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endParaRPr sz="1800"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La idea: un motor de reglas configurable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>
                <a:solidFill>
                  <a:srgbClr val="222222"/>
                </a:solidFill>
              </a:rPr>
              <a:t>Dado un conjunto de </a:t>
            </a:r>
            <a:r>
              <a:rPr sz="2000" b="1" dirty="0" err="1">
                <a:solidFill>
                  <a:srgbClr val="222222"/>
                </a:solidFill>
              </a:rPr>
              <a:t>reglas</a:t>
            </a:r>
            <a:r>
              <a:rPr sz="2000" b="1" dirty="0">
                <a:solidFill>
                  <a:srgbClr val="222222"/>
                </a:solidFill>
              </a:rPr>
              <a:t> (un</a:t>
            </a:r>
            <a:r>
              <a:rPr lang="es-ES" sz="2000" b="1" dirty="0">
                <a:solidFill>
                  <a:srgbClr val="222222"/>
                </a:solidFill>
              </a:rPr>
              <a:t>o</a:t>
            </a:r>
            <a:r>
              <a:rPr sz="2000" b="1" dirty="0">
                <a:solidFill>
                  <a:srgbClr val="222222"/>
                </a:solidFill>
              </a:rPr>
              <a:t> </a:t>
            </a:r>
            <a:r>
              <a:rPr sz="2000" b="1" dirty="0" err="1">
                <a:solidFill>
                  <a:srgbClr val="222222"/>
                </a:solidFill>
              </a:rPr>
              <a:t>por</a:t>
            </a:r>
            <a:r>
              <a:rPr sz="2000" b="1" dirty="0">
                <a:solidFill>
                  <a:srgbClr val="222222"/>
                </a:solidFill>
              </a:rPr>
              <a:t> </a:t>
            </a:r>
            <a:r>
              <a:rPr sz="2000" b="1" dirty="0" err="1">
                <a:solidFill>
                  <a:srgbClr val="222222"/>
                </a:solidFill>
              </a:rPr>
              <a:t>oferta</a:t>
            </a:r>
            <a:r>
              <a:rPr sz="2000" b="1" dirty="0">
                <a:solidFill>
                  <a:srgbClr val="222222"/>
                </a:solidFill>
              </a:rPr>
              <a:t>) y </a:t>
            </a:r>
            <a:r>
              <a:rPr sz="2000" b="1" dirty="0" err="1">
                <a:solidFill>
                  <a:srgbClr val="222222"/>
                </a:solidFill>
              </a:rPr>
              <a:t>parámetros</a:t>
            </a:r>
            <a:r>
              <a:rPr sz="2000" b="1" dirty="0">
                <a:solidFill>
                  <a:srgbClr val="222222"/>
                </a:solidFill>
              </a:rPr>
              <a:t> → </a:t>
            </a:r>
            <a:r>
              <a:rPr sz="2000" b="1" dirty="0" err="1">
                <a:solidFill>
                  <a:srgbClr val="222222"/>
                </a:solidFill>
              </a:rPr>
              <a:t>devuelve</a:t>
            </a:r>
            <a:r>
              <a:rPr sz="2000" b="1" dirty="0">
                <a:solidFill>
                  <a:srgbClr val="222222"/>
                </a:solidFill>
              </a:rPr>
              <a:t> </a:t>
            </a:r>
            <a:r>
              <a:rPr sz="2000" b="1" dirty="0" err="1">
                <a:solidFill>
                  <a:srgbClr val="222222"/>
                </a:solidFill>
              </a:rPr>
              <a:t>ofertas</a:t>
            </a:r>
            <a:r>
              <a:rPr sz="2000" b="1" dirty="0">
                <a:solidFill>
                  <a:srgbClr val="222222"/>
                </a:solidFill>
              </a:rPr>
              <a:t> </a:t>
            </a:r>
            <a:r>
              <a:rPr sz="2000" b="1" dirty="0" err="1">
                <a:solidFill>
                  <a:srgbClr val="222222"/>
                </a:solidFill>
              </a:rPr>
              <a:t>elegibles</a:t>
            </a:r>
            <a:r>
              <a:rPr sz="2000" b="1" dirty="0">
                <a:solidFill>
                  <a:srgbClr val="222222"/>
                </a:solidFill>
              </a:rPr>
              <a:t> y </a:t>
            </a:r>
            <a:r>
              <a:rPr sz="2000" b="1" dirty="0" err="1">
                <a:solidFill>
                  <a:srgbClr val="222222"/>
                </a:solidFill>
              </a:rPr>
              <a:t>límites</a:t>
            </a:r>
            <a:endParaRPr sz="2000" b="1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s-ES" dirty="0">
                <a:solidFill>
                  <a:srgbClr val="222222"/>
                </a:solidFill>
              </a:rPr>
              <a:t>• La entidad indicaba en sus especificaciones condiciones parametrizadas para cada producto. En poco tiempo las condiciones han ido cambiando y el conjunto de ofertas a calcular se hacía inmanejable. </a:t>
            </a:r>
          </a:p>
          <a:p>
            <a:pPr>
              <a:spcAft>
                <a:spcPts val="1200"/>
              </a:spcAft>
            </a:pPr>
            <a:r>
              <a:rPr lang="es-ES" dirty="0">
                <a:solidFill>
                  <a:srgbClr val="222222"/>
                </a:solidFill>
              </a:rPr>
              <a:t>• Implementarlo con un algoritmo programado implicaba rigidez a la hora de definir las condiciones y modificación de código/despliegue en cada cambio.</a:t>
            </a:r>
          </a:p>
          <a:p>
            <a:pPr>
              <a:spcAft>
                <a:spcPts val="1200"/>
              </a:spcAft>
            </a:pPr>
            <a:r>
              <a:rPr lang="es-ES" dirty="0">
                <a:solidFill>
                  <a:srgbClr val="222222"/>
                </a:solidFill>
              </a:rPr>
              <a:t>• He optado por crear un motor de reglas que permita definir por configuración un conjunto de condiciones que usen valores parametrizables. La solución permite el cálculo de ofertas:</a:t>
            </a:r>
            <a:endParaRPr lang="es-ES"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lang="es-ES" sz="1800" dirty="0">
                <a:solidFill>
                  <a:srgbClr val="222222"/>
                </a:solidFill>
              </a:rPr>
              <a:t>	</a:t>
            </a:r>
            <a:r>
              <a:rPr sz="1800" dirty="0">
                <a:solidFill>
                  <a:srgbClr val="222222"/>
                </a:solidFill>
              </a:rPr>
              <a:t>•  Sin </a:t>
            </a:r>
            <a:r>
              <a:rPr sz="1800" dirty="0" err="1">
                <a:solidFill>
                  <a:srgbClr val="222222"/>
                </a:solidFill>
              </a:rPr>
              <a:t>recompilar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ni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tocar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código</a:t>
            </a:r>
            <a:r>
              <a:rPr sz="1800" dirty="0">
                <a:solidFill>
                  <a:srgbClr val="222222"/>
                </a:solidFill>
              </a:rPr>
              <a:t>: </a:t>
            </a:r>
            <a:r>
              <a:rPr sz="1800" dirty="0" err="1">
                <a:solidFill>
                  <a:srgbClr val="222222"/>
                </a:solidFill>
              </a:rPr>
              <a:t>todo</a:t>
            </a:r>
            <a:r>
              <a:rPr sz="1800" dirty="0">
                <a:solidFill>
                  <a:srgbClr val="222222"/>
                </a:solidFill>
              </a:rPr>
              <a:t> es </a:t>
            </a:r>
            <a:r>
              <a:rPr sz="1800" dirty="0" err="1">
                <a:solidFill>
                  <a:srgbClr val="222222"/>
                </a:solidFill>
              </a:rPr>
              <a:t>configuración</a:t>
            </a:r>
            <a:endParaRPr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lang="es-ES" sz="1800" dirty="0">
                <a:solidFill>
                  <a:srgbClr val="222222"/>
                </a:solidFill>
              </a:rPr>
              <a:t>	</a:t>
            </a:r>
            <a:r>
              <a:rPr sz="1800" dirty="0">
                <a:solidFill>
                  <a:srgbClr val="222222"/>
                </a:solidFill>
              </a:rPr>
              <a:t>•  Reglas para </a:t>
            </a:r>
            <a:r>
              <a:rPr sz="1800" dirty="0" err="1">
                <a:solidFill>
                  <a:srgbClr val="222222"/>
                </a:solidFill>
              </a:rPr>
              <a:t>perfil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técnico</a:t>
            </a:r>
            <a:r>
              <a:rPr sz="1800" dirty="0">
                <a:solidFill>
                  <a:srgbClr val="222222"/>
                </a:solidFill>
              </a:rPr>
              <a:t> · </a:t>
            </a:r>
            <a:r>
              <a:rPr sz="1800" dirty="0" err="1">
                <a:solidFill>
                  <a:srgbClr val="222222"/>
                </a:solidFill>
              </a:rPr>
              <a:t>parámetros</a:t>
            </a:r>
            <a:r>
              <a:rPr sz="1800" dirty="0">
                <a:solidFill>
                  <a:srgbClr val="222222"/>
                </a:solidFill>
              </a:rPr>
              <a:t> para </a:t>
            </a:r>
            <a:r>
              <a:rPr sz="1800" dirty="0" err="1">
                <a:solidFill>
                  <a:srgbClr val="222222"/>
                </a:solidFill>
              </a:rPr>
              <a:t>perfil</a:t>
            </a:r>
            <a:r>
              <a:rPr sz="1800" dirty="0">
                <a:solidFill>
                  <a:srgbClr val="222222"/>
                </a:solidFill>
              </a:rPr>
              <a:t> de </a:t>
            </a:r>
            <a:r>
              <a:rPr sz="1800" dirty="0" err="1">
                <a:solidFill>
                  <a:srgbClr val="222222"/>
                </a:solidFill>
              </a:rPr>
              <a:t>negocio</a:t>
            </a:r>
            <a:endParaRPr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lang="es-ES" sz="1800" dirty="0">
                <a:solidFill>
                  <a:srgbClr val="222222"/>
                </a:solidFill>
              </a:rPr>
              <a:t>	</a:t>
            </a:r>
            <a:r>
              <a:rPr sz="1800" dirty="0">
                <a:solidFill>
                  <a:srgbClr val="222222"/>
                </a:solidFill>
              </a:rPr>
              <a:t>•  </a:t>
            </a:r>
            <a:r>
              <a:rPr sz="1800" dirty="0" err="1">
                <a:solidFill>
                  <a:srgbClr val="222222"/>
                </a:solidFill>
              </a:rPr>
              <a:t>Versionado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por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vigencias</a:t>
            </a:r>
            <a:r>
              <a:rPr sz="1800" dirty="0">
                <a:solidFill>
                  <a:srgbClr val="222222"/>
                </a:solidFill>
              </a:rPr>
              <a:t>: "</a:t>
            </a:r>
            <a:r>
              <a:rPr sz="1800" dirty="0" err="1">
                <a:solidFill>
                  <a:srgbClr val="222222"/>
                </a:solidFill>
              </a:rPr>
              <a:t>qué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reglas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lang="es-ES" sz="1800" dirty="0">
                <a:solidFill>
                  <a:srgbClr val="222222"/>
                </a:solidFill>
              </a:rPr>
              <a:t>y qué parámetros </a:t>
            </a:r>
            <a:r>
              <a:rPr sz="1800" dirty="0" err="1">
                <a:solidFill>
                  <a:srgbClr val="222222"/>
                </a:solidFill>
              </a:rPr>
              <a:t>aplicaban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en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tal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fecha</a:t>
            </a:r>
            <a:r>
              <a:rPr sz="1800" dirty="0">
                <a:solidFill>
                  <a:srgbClr val="222222"/>
                </a:solidFill>
              </a:rPr>
              <a:t>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El pipeline de 3 fases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INIT → PRE → FINAL (cada fase recibe su propio input completo, sin estado compartido)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5869507"/>
              </p:ext>
            </p:extLst>
          </p:nvPr>
        </p:nvGraphicFramePr>
        <p:xfrm>
          <a:off x="563880" y="352044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Decide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Con qué datos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INIT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Elegibilidad inicial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Datos mínimos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rPr dirty="0"/>
                        <a:t>PRE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Pre-elegibilidad + límites del simulador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Simulación inicial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rPr dirty="0"/>
                        <a:t>FINAL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Oferta ganadora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rPr dirty="0"/>
                        <a:t>Datos </a:t>
                      </a:r>
                      <a:r>
                        <a:rPr dirty="0" err="1"/>
                        <a:t>definitivos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préstamo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7520" y="2011680"/>
            <a:ext cx="1106424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La </a:t>
            </a:r>
            <a:r>
              <a:rPr lang="es-ES" sz="1800" dirty="0">
                <a:solidFill>
                  <a:srgbClr val="222222"/>
                </a:solidFill>
              </a:rPr>
              <a:t>simulación tiene tres pasos para llegar a recabar toda la información para poder elegir la oferta final</a:t>
            </a:r>
            <a:endParaRPr lang="es-ES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lang="es-ES" dirty="0">
                <a:solidFill>
                  <a:srgbClr val="222222"/>
                </a:solidFill>
              </a:rPr>
              <a:t>•  En cada paso hay conjuntos de información diferente que hay que evaluar. </a:t>
            </a:r>
          </a:p>
          <a:p>
            <a:pPr>
              <a:spcAft>
                <a:spcPts val="1200"/>
              </a:spcAft>
            </a:pPr>
            <a:r>
              <a:rPr lang="es-ES" dirty="0">
                <a:solidFill>
                  <a:srgbClr val="222222"/>
                </a:solidFill>
              </a:rPr>
              <a:t>• Se define un modelo de ejecución por fase a medida que se obtienen los datos necesarios</a:t>
            </a: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A4E9B0D1-A6FA-E9CF-F4C1-558D68F48F1F}"/>
              </a:ext>
            </a:extLst>
          </p:cNvPr>
          <p:cNvSpPr txBox="1"/>
          <p:nvPr/>
        </p:nvSpPr>
        <p:spPr>
          <a:xfrm>
            <a:off x="548640" y="562356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La </a:t>
            </a:r>
            <a:r>
              <a:rPr sz="1800" dirty="0" err="1">
                <a:solidFill>
                  <a:srgbClr val="222222"/>
                </a:solidFill>
              </a:rPr>
              <a:t>oferta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ganadora</a:t>
            </a:r>
            <a:r>
              <a:rPr sz="1800" dirty="0">
                <a:solidFill>
                  <a:srgbClr val="222222"/>
                </a:solidFill>
              </a:rPr>
              <a:t> = la </a:t>
            </a:r>
            <a:r>
              <a:rPr sz="1800" dirty="0" err="1">
                <a:solidFill>
                  <a:srgbClr val="222222"/>
                </a:solidFill>
              </a:rPr>
              <a:t>elegible</a:t>
            </a:r>
            <a:r>
              <a:rPr sz="1800" dirty="0">
                <a:solidFill>
                  <a:srgbClr val="222222"/>
                </a:solidFill>
              </a:rPr>
              <a:t> con mayor `</a:t>
            </a:r>
            <a:r>
              <a:rPr sz="1800" dirty="0" err="1">
                <a:solidFill>
                  <a:srgbClr val="222222"/>
                </a:solidFill>
              </a:rPr>
              <a:t>offer_rank</a:t>
            </a:r>
            <a:r>
              <a:rPr sz="1800" dirty="0">
                <a:solidFill>
                  <a:srgbClr val="222222"/>
                </a:solidFill>
              </a:rPr>
              <a:t>`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E86C1"/>
                </a:solidFill>
              </a:rPr>
              <a:t>⭐ El valor del proyecto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No está en la complejidad del motor (que es modesta)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</a:t>
            </a:r>
            <a:r>
              <a:rPr sz="1800" dirty="0" err="1">
                <a:solidFill>
                  <a:srgbClr val="222222"/>
                </a:solidFill>
              </a:rPr>
              <a:t>Está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en</a:t>
            </a:r>
            <a:r>
              <a:rPr sz="1800" dirty="0">
                <a:solidFill>
                  <a:srgbClr val="222222"/>
                </a:solidFill>
              </a:rPr>
              <a:t>: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222222"/>
                </a:solidFill>
              </a:rPr>
              <a:t>Madurar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una</a:t>
            </a:r>
            <a:r>
              <a:rPr dirty="0">
                <a:solidFill>
                  <a:srgbClr val="222222"/>
                </a:solidFill>
              </a:rPr>
              <a:t> idea de </a:t>
            </a:r>
            <a:r>
              <a:rPr dirty="0" err="1">
                <a:solidFill>
                  <a:srgbClr val="222222"/>
                </a:solidFill>
              </a:rPr>
              <a:t>negocio</a:t>
            </a:r>
            <a:r>
              <a:rPr dirty="0">
                <a:solidFill>
                  <a:srgbClr val="222222"/>
                </a:solidFill>
              </a:rPr>
              <a:t> hasta </a:t>
            </a:r>
            <a:r>
              <a:rPr dirty="0" err="1">
                <a:solidFill>
                  <a:srgbClr val="222222"/>
                </a:solidFill>
              </a:rPr>
              <a:t>una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solución</a:t>
            </a:r>
            <a:r>
              <a:rPr dirty="0">
                <a:solidFill>
                  <a:srgbClr val="222222"/>
                </a:solidFill>
              </a:rPr>
              <a:t> completa y usable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dirty="0">
                <a:solidFill>
                  <a:srgbClr val="222222"/>
                </a:solidFill>
              </a:rPr>
              <a:t>Usar la IA </a:t>
            </a:r>
            <a:r>
              <a:rPr dirty="0" err="1">
                <a:solidFill>
                  <a:srgbClr val="222222"/>
                </a:solidFill>
              </a:rPr>
              <a:t>como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herramienta</a:t>
            </a:r>
            <a:r>
              <a:rPr dirty="0">
                <a:solidFill>
                  <a:srgbClr val="222222"/>
                </a:solidFill>
              </a:rPr>
              <a:t> de </a:t>
            </a:r>
            <a:r>
              <a:rPr dirty="0" err="1">
                <a:solidFill>
                  <a:srgbClr val="222222"/>
                </a:solidFill>
              </a:rPr>
              <a:t>ingeniería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en</a:t>
            </a:r>
            <a:r>
              <a:rPr dirty="0">
                <a:solidFill>
                  <a:srgbClr val="222222"/>
                </a:solidFill>
              </a:rPr>
              <a:t> </a:t>
            </a:r>
            <a:r>
              <a:rPr dirty="0" err="1">
                <a:solidFill>
                  <a:srgbClr val="222222"/>
                </a:solidFill>
              </a:rPr>
              <a:t>todo</a:t>
            </a:r>
            <a:r>
              <a:rPr dirty="0">
                <a:solidFill>
                  <a:srgbClr val="222222"/>
                </a:solidFill>
              </a:rPr>
              <a:t> el </a:t>
            </a:r>
            <a:r>
              <a:rPr dirty="0" err="1">
                <a:solidFill>
                  <a:srgbClr val="222222"/>
                </a:solidFill>
              </a:rPr>
              <a:t>ciclo</a:t>
            </a:r>
            <a:r>
              <a:rPr dirty="0">
                <a:solidFill>
                  <a:srgbClr val="222222"/>
                </a:solidFill>
              </a:rPr>
              <a:t> de </a:t>
            </a:r>
            <a:r>
              <a:rPr dirty="0" err="1">
                <a:solidFill>
                  <a:srgbClr val="222222"/>
                </a:solidFill>
              </a:rPr>
              <a:t>construcción</a:t>
            </a:r>
            <a:endParaRPr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2E86C1"/>
                </a:solidFill>
              </a:rPr>
              <a:t>⭐ Dónde está (y dónde NO) la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El motor NO usa ningún LLM en tiempo de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Decisiones deterministas y reproducibles: lógica DNF pura sobre JSON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No hay consultas a un modelo para decidir qué oferta gana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La IA construyó y probó el sistema; el sistema funciona sin 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Cómo usé la IA (el ciclo completo)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De la documentación al código, con IA en cada paso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Análisis funcional de los requisitos a partir de la documentación de negocio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Diseño del motor DNF, su contrato y su modelo de datos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Generación de las reglas (`rules.json`) traduciendo el documento funcional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Construcción del frontend de configuración (la parte compleja)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Generación de la batería de pruebas y del modelo de evidencias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SDD: incorporar funcionalidades con método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Spec-Driven Development, no "vibe-coding"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s-ES" dirty="0">
                <a:solidFill>
                  <a:srgbClr val="222222"/>
                </a:solidFill>
              </a:rPr>
              <a:t>• He usado el plugin de </a:t>
            </a:r>
            <a:r>
              <a:rPr lang="es-ES" dirty="0"/>
              <a:t>Alan Buscaglia que ha facilitado enormemente este modelo de desarrollo</a:t>
            </a:r>
            <a:endParaRPr lang="es-ES"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Cada </a:t>
            </a:r>
            <a:r>
              <a:rPr sz="1800" dirty="0" err="1">
                <a:solidFill>
                  <a:srgbClr val="222222"/>
                </a:solidFill>
              </a:rPr>
              <a:t>cambio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sigue</a:t>
            </a:r>
            <a:r>
              <a:rPr sz="1800" dirty="0">
                <a:solidFill>
                  <a:srgbClr val="222222"/>
                </a:solidFill>
              </a:rPr>
              <a:t>: explore → proposal → spec → design → tasks → apply → verify → archive</a:t>
            </a: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Specs </a:t>
            </a:r>
            <a:r>
              <a:rPr sz="1800" dirty="0" err="1">
                <a:solidFill>
                  <a:srgbClr val="222222"/>
                </a:solidFill>
              </a:rPr>
              <a:t>en</a:t>
            </a:r>
            <a:r>
              <a:rPr sz="1800" dirty="0">
                <a:solidFill>
                  <a:srgbClr val="222222"/>
                </a:solidFill>
              </a:rPr>
              <a:t> *Given/When/Then* + RFC 2119 · </a:t>
            </a:r>
            <a:r>
              <a:rPr sz="1800" dirty="0" err="1">
                <a:solidFill>
                  <a:srgbClr val="222222"/>
                </a:solidFill>
              </a:rPr>
              <a:t>implementación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en</a:t>
            </a:r>
            <a:r>
              <a:rPr sz="1800" dirty="0">
                <a:solidFill>
                  <a:srgbClr val="222222"/>
                </a:solidFill>
              </a:rPr>
              <a:t> TDD </a:t>
            </a:r>
            <a:r>
              <a:rPr sz="1800" dirty="0" err="1">
                <a:solidFill>
                  <a:srgbClr val="222222"/>
                </a:solidFill>
              </a:rPr>
              <a:t>estricto</a:t>
            </a:r>
            <a:endParaRPr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Todo el </a:t>
            </a:r>
            <a:r>
              <a:rPr sz="1800" dirty="0" err="1">
                <a:solidFill>
                  <a:srgbClr val="222222"/>
                </a:solidFill>
              </a:rPr>
              <a:t>rastro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versionado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en</a:t>
            </a:r>
            <a:r>
              <a:rPr sz="1800" dirty="0">
                <a:solidFill>
                  <a:srgbClr val="222222"/>
                </a:solidFill>
              </a:rPr>
              <a:t> `</a:t>
            </a:r>
            <a:r>
              <a:rPr sz="1800" dirty="0" err="1">
                <a:solidFill>
                  <a:srgbClr val="222222"/>
                </a:solidFill>
              </a:rPr>
              <a:t>openspec</a:t>
            </a:r>
            <a:r>
              <a:rPr sz="1800" dirty="0">
                <a:solidFill>
                  <a:srgbClr val="222222"/>
                </a:solidFill>
              </a:rPr>
              <a:t>/` · 10 </a:t>
            </a:r>
            <a:r>
              <a:rPr sz="1800" dirty="0" err="1">
                <a:solidFill>
                  <a:srgbClr val="222222"/>
                </a:solidFill>
              </a:rPr>
              <a:t>cambios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completados</a:t>
            </a:r>
            <a:r>
              <a:rPr sz="1800" dirty="0">
                <a:solidFill>
                  <a:srgbClr val="222222"/>
                </a:solidFill>
              </a:rPr>
              <a:t> de extremo a extremo</a:t>
            </a: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La IA </a:t>
            </a:r>
            <a:r>
              <a:rPr sz="1800" dirty="0" err="1">
                <a:solidFill>
                  <a:srgbClr val="222222"/>
                </a:solidFill>
              </a:rPr>
              <a:t>ejecuta</a:t>
            </a:r>
            <a:r>
              <a:rPr sz="1800" dirty="0">
                <a:solidFill>
                  <a:srgbClr val="222222"/>
                </a:solidFill>
              </a:rPr>
              <a:t> el </a:t>
            </a:r>
            <a:r>
              <a:rPr sz="1800" dirty="0" err="1">
                <a:solidFill>
                  <a:srgbClr val="222222"/>
                </a:solidFill>
              </a:rPr>
              <a:t>flujo</a:t>
            </a:r>
            <a:r>
              <a:rPr sz="1800" dirty="0">
                <a:solidFill>
                  <a:srgbClr val="222222"/>
                </a:solidFill>
              </a:rPr>
              <a:t>; el </a:t>
            </a:r>
            <a:r>
              <a:rPr sz="1800" dirty="0" err="1">
                <a:solidFill>
                  <a:srgbClr val="222222"/>
                </a:solidFill>
              </a:rPr>
              <a:t>criterio</a:t>
            </a:r>
            <a:r>
              <a:rPr sz="1800" dirty="0">
                <a:solidFill>
                  <a:srgbClr val="222222"/>
                </a:solidFill>
              </a:rPr>
              <a:t> de </a:t>
            </a:r>
            <a:r>
              <a:rPr sz="1800" dirty="0" err="1">
                <a:solidFill>
                  <a:srgbClr val="222222"/>
                </a:solidFill>
              </a:rPr>
              <a:t>ingeniería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queda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explícito</a:t>
            </a:r>
            <a:r>
              <a:rPr sz="1800" dirty="0">
                <a:solidFill>
                  <a:srgbClr val="222222"/>
                </a:solidFill>
              </a:rPr>
              <a:t> y auditable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El patrón de inversión (lo no-obvio)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Las reglas son *detectores de rechazo*, no de elegibilidad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Condición positiva del documento → se niega (leyes de De Morgan) antes de codificarla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`NOT (A AND B)` → `(NOT A) OR (NOT B)` → un grupo por cada forma de fallar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El nombre de cada regla documenta la condición original (`neg.: …`)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El frontend de configuración (la pieza compleja)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Generado a partir de la documentación y del modelo de datos 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CRUD de ofertas, reglas, condiciones, acciones y parámetros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Simuladores de las 3 fases con traza visual de la decisión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Import/export de configuración + snapshots automáticos y restauración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Gestión de vigencias (periodos de configuración)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Validación dual contra el banco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>
                <a:solidFill>
                  <a:srgbClr val="222222"/>
                </a:solidFill>
              </a:rPr>
              <a:t>Implementación del motor en el</a:t>
            </a:r>
            <a:r>
              <a:rPr sz="2000" b="1" dirty="0">
                <a:solidFill>
                  <a:srgbClr val="222222"/>
                </a:solidFill>
              </a:rPr>
              <a:t> </a:t>
            </a:r>
            <a:r>
              <a:rPr sz="2000" b="1" dirty="0" err="1">
                <a:solidFill>
                  <a:srgbClr val="222222"/>
                </a:solidFill>
              </a:rPr>
              <a:t>sistema</a:t>
            </a:r>
            <a:r>
              <a:rPr sz="2000" b="1" dirty="0">
                <a:solidFill>
                  <a:srgbClr val="222222"/>
                </a:solidFill>
              </a:rPr>
              <a:t> de workflow del banc</a:t>
            </a:r>
            <a:r>
              <a:rPr lang="es-ES" sz="2000" b="1" dirty="0">
                <a:solidFill>
                  <a:srgbClr val="222222"/>
                </a:solidFill>
              </a:rPr>
              <a:t>o</a:t>
            </a:r>
            <a:endParaRPr sz="2000" b="1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273" y="1910080"/>
            <a:ext cx="1106424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s-ES" dirty="0">
                <a:solidFill>
                  <a:srgbClr val="222222"/>
                </a:solidFill>
              </a:rPr>
              <a:t>•  Desafortunadamente el motor debe implementarse en el sistema de </a:t>
            </a:r>
            <a:r>
              <a:rPr lang="es-ES" dirty="0" err="1">
                <a:solidFill>
                  <a:srgbClr val="222222"/>
                </a:solidFill>
              </a:rPr>
              <a:t>workflow</a:t>
            </a:r>
            <a:r>
              <a:rPr lang="es-ES" dirty="0">
                <a:solidFill>
                  <a:srgbClr val="222222"/>
                </a:solidFill>
              </a:rPr>
              <a:t> de la entidad. Se ha facilitado el código fuente para que los equipos de desarrollo de </a:t>
            </a:r>
            <a:r>
              <a:rPr lang="es-ES" dirty="0" err="1">
                <a:solidFill>
                  <a:srgbClr val="222222"/>
                </a:solidFill>
              </a:rPr>
              <a:t>workflow</a:t>
            </a:r>
            <a:r>
              <a:rPr lang="es-ES" dirty="0">
                <a:solidFill>
                  <a:srgbClr val="222222"/>
                </a:solidFill>
              </a:rPr>
              <a:t> implementen el código (utilizan un lenguaje de programación propietario similar a </a:t>
            </a:r>
            <a:r>
              <a:rPr lang="es-ES" dirty="0" err="1">
                <a:solidFill>
                  <a:srgbClr val="222222"/>
                </a:solidFill>
              </a:rPr>
              <a:t>javascript</a:t>
            </a:r>
            <a:r>
              <a:rPr lang="es-ES" dirty="0">
                <a:solidFill>
                  <a:srgbClr val="222222"/>
                </a:solidFill>
              </a:rPr>
              <a:t>).</a:t>
            </a: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7C418FA5-E17A-208B-F01F-F30350E4DC34}"/>
              </a:ext>
            </a:extLst>
          </p:cNvPr>
          <p:cNvSpPr txBox="1"/>
          <p:nvPr/>
        </p:nvSpPr>
        <p:spPr>
          <a:xfrm>
            <a:off x="563727" y="2970184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dirty="0" err="1">
                <a:solidFill>
                  <a:srgbClr val="222222"/>
                </a:solidFill>
              </a:rPr>
              <a:t>Mismo</a:t>
            </a:r>
            <a:r>
              <a:rPr sz="2000" b="1" dirty="0">
                <a:solidFill>
                  <a:srgbClr val="222222"/>
                </a:solidFill>
              </a:rPr>
              <a:t> input → motor local + </a:t>
            </a:r>
            <a:r>
              <a:rPr sz="2000" b="1" dirty="0" err="1">
                <a:solidFill>
                  <a:srgbClr val="222222"/>
                </a:solidFill>
              </a:rPr>
              <a:t>sistema</a:t>
            </a:r>
            <a:r>
              <a:rPr sz="2000" b="1" dirty="0">
                <a:solidFill>
                  <a:srgbClr val="222222"/>
                </a:solidFill>
              </a:rPr>
              <a:t> de workflow del banco → </a:t>
            </a:r>
            <a:r>
              <a:rPr sz="2000" b="1" dirty="0" err="1">
                <a:solidFill>
                  <a:srgbClr val="222222"/>
                </a:solidFill>
              </a:rPr>
              <a:t>comparar</a:t>
            </a:r>
            <a:endParaRPr sz="2000" b="1" dirty="0">
              <a:solidFill>
                <a:srgbClr val="222222"/>
              </a:solidFill>
            </a:endParaRP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7B87D19C-8FAA-8541-D0DC-E75D4FC1839A}"/>
              </a:ext>
            </a:extLst>
          </p:cNvPr>
          <p:cNvSpPr txBox="1"/>
          <p:nvPr/>
        </p:nvSpPr>
        <p:spPr>
          <a:xfrm>
            <a:off x="579273" y="3466573"/>
            <a:ext cx="1106424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s-ES" dirty="0">
                <a:solidFill>
                  <a:srgbClr val="222222"/>
                </a:solidFill>
              </a:rPr>
              <a:t>•  Para la validación se ha solicitado a la entidad un </a:t>
            </a:r>
            <a:r>
              <a:rPr lang="es-ES" dirty="0" err="1">
                <a:solidFill>
                  <a:srgbClr val="222222"/>
                </a:solidFill>
              </a:rPr>
              <a:t>endpoint</a:t>
            </a:r>
            <a:r>
              <a:rPr lang="es-ES" dirty="0">
                <a:solidFill>
                  <a:srgbClr val="222222"/>
                </a:solidFill>
              </a:rPr>
              <a:t> que nos permita obtener la respuesta del simulador para un conjunto de datos. Esto permite</a:t>
            </a:r>
            <a:r>
              <a:rPr lang="es-ES" sz="1800" dirty="0">
                <a:solidFill>
                  <a:srgbClr val="222222"/>
                </a:solidFill>
              </a:rPr>
              <a:t> c</a:t>
            </a:r>
            <a:r>
              <a:rPr sz="1800" dirty="0" err="1">
                <a:solidFill>
                  <a:srgbClr val="222222"/>
                </a:solidFill>
              </a:rPr>
              <a:t>ontrasta</a:t>
            </a:r>
            <a:r>
              <a:rPr lang="es-ES" sz="1800" dirty="0">
                <a:solidFill>
                  <a:srgbClr val="222222"/>
                </a:solidFill>
              </a:rPr>
              <a:t>r</a:t>
            </a:r>
            <a:r>
              <a:rPr sz="1800" dirty="0">
                <a:solidFill>
                  <a:srgbClr val="222222"/>
                </a:solidFill>
              </a:rPr>
              <a:t> el </a:t>
            </a:r>
            <a:r>
              <a:rPr sz="1800" dirty="0" err="1">
                <a:solidFill>
                  <a:srgbClr val="222222"/>
                </a:solidFill>
              </a:rPr>
              <a:t>resultado</a:t>
            </a:r>
            <a:r>
              <a:rPr sz="1800" dirty="0">
                <a:solidFill>
                  <a:srgbClr val="222222"/>
                </a:solidFill>
              </a:rPr>
              <a:t> del motor de la PoC con el del </a:t>
            </a:r>
            <a:r>
              <a:rPr sz="1800" dirty="0" err="1">
                <a:solidFill>
                  <a:srgbClr val="222222"/>
                </a:solidFill>
              </a:rPr>
              <a:t>sistema</a:t>
            </a:r>
            <a:r>
              <a:rPr sz="1800" dirty="0">
                <a:solidFill>
                  <a:srgbClr val="222222"/>
                </a:solidFill>
              </a:rPr>
              <a:t> real</a:t>
            </a: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</a:t>
            </a:r>
            <a:r>
              <a:rPr lang="es-ES" sz="1800" dirty="0">
                <a:solidFill>
                  <a:srgbClr val="222222"/>
                </a:solidFill>
              </a:rPr>
              <a:t>Además, sí podemos inyectar y gestionar toda la configuración del motor desde una aplicación externa conectada al servidor SQL de sus entornos (</a:t>
            </a:r>
            <a:r>
              <a:rPr lang="es-ES" sz="1800" dirty="0" err="1">
                <a:solidFill>
                  <a:srgbClr val="222222"/>
                </a:solidFill>
              </a:rPr>
              <a:t>staging</a:t>
            </a:r>
            <a:r>
              <a:rPr lang="es-ES" sz="1800" dirty="0">
                <a:solidFill>
                  <a:srgbClr val="222222"/>
                </a:solidFill>
              </a:rPr>
              <a:t>/producción) mediante un a</a:t>
            </a:r>
            <a:r>
              <a:rPr sz="1800" dirty="0" err="1">
                <a:solidFill>
                  <a:srgbClr val="222222"/>
                </a:solidFill>
              </a:rPr>
              <a:t>daptador</a:t>
            </a:r>
            <a:r>
              <a:rPr sz="1800" dirty="0">
                <a:solidFill>
                  <a:srgbClr val="222222"/>
                </a:solidFill>
              </a:rPr>
              <a:t> de </a:t>
            </a:r>
            <a:r>
              <a:rPr sz="1800" dirty="0" err="1">
                <a:solidFill>
                  <a:srgbClr val="222222"/>
                </a:solidFill>
              </a:rPr>
              <a:t>publicación</a:t>
            </a:r>
            <a:r>
              <a:rPr sz="1800" dirty="0">
                <a:solidFill>
                  <a:srgbClr val="222222"/>
                </a:solidFill>
              </a:rPr>
              <a:t> de la </a:t>
            </a:r>
            <a:r>
              <a:rPr sz="1800" dirty="0" err="1">
                <a:solidFill>
                  <a:srgbClr val="222222"/>
                </a:solidFill>
              </a:rPr>
              <a:t>configuración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lang="es-ES" sz="1800" dirty="0">
                <a:solidFill>
                  <a:srgbClr val="222222"/>
                </a:solidFill>
              </a:rPr>
              <a:t>en </a:t>
            </a:r>
            <a:r>
              <a:rPr sz="1800" dirty="0">
                <a:solidFill>
                  <a:srgbClr val="222222"/>
                </a:solidFill>
              </a:rPr>
              <a:t>workflow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Calidad: escenarios dirigidos por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Los tests y el informe para cliente consumen las MISMAS definiciones → nunca divergen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*Golden* generado por el motor y revisado a mano contra el cuadro de decisión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El *freeze* falla si el ganador calculado ≠ ganador esperado de negocio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Estado de la suite: 251 tests · 226 pass · 0 fail · 25 skipped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Stack tecnológico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Capa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Motor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Node.js (ESM), funciones puras, sin dependencias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API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Express 4 · mssql 11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SQL Server (tablas + SP)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Angular 20 · RxJS · TypeScript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Pruebas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`node:test` · Karma/Jasmine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IA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222222"/>
                          </a:solidFill>
                        </a:defRPr>
                      </a:pPr>
                      <a:r>
                        <a:t>Claude Code / OpenCode con prompts versionados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(Captura de pantalla en vivo)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Simulador PRE: introduzco datos → veo ofertas elegibles y límites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Simulador FINAL: añado importe/plazo → veo la oferta ganadora y la traza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Configurador: cambio un parámetro (p. ej. `MAX_LTV`) y re-simulo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22222"/>
                </a:solidFill>
              </a:rPr>
              <a:t>•  Snapshots: muestro el versionado de configuración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B2A4A"/>
                </a:solidFill>
              </a:rPr>
              <a:t>Aprendizajes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7572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</a:rPr>
              <a:t>Qué me llevo del TFM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11064240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La IA </a:t>
            </a:r>
            <a:r>
              <a:rPr sz="1800" dirty="0" err="1">
                <a:solidFill>
                  <a:srgbClr val="222222"/>
                </a:solidFill>
              </a:rPr>
              <a:t>acelera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enormemente</a:t>
            </a:r>
            <a:r>
              <a:rPr sz="1800" dirty="0">
                <a:solidFill>
                  <a:srgbClr val="222222"/>
                </a:solidFill>
              </a:rPr>
              <a:t> la </a:t>
            </a:r>
            <a:r>
              <a:rPr sz="1800" dirty="0" err="1">
                <a:solidFill>
                  <a:srgbClr val="222222"/>
                </a:solidFill>
              </a:rPr>
              <a:t>traducción</a:t>
            </a:r>
            <a:r>
              <a:rPr sz="1800" dirty="0">
                <a:solidFill>
                  <a:srgbClr val="222222"/>
                </a:solidFill>
              </a:rPr>
              <a:t> de </a:t>
            </a:r>
            <a:r>
              <a:rPr sz="1800" dirty="0" err="1">
                <a:solidFill>
                  <a:srgbClr val="222222"/>
                </a:solidFill>
              </a:rPr>
              <a:t>documentación</a:t>
            </a:r>
            <a:r>
              <a:rPr sz="1800" dirty="0">
                <a:solidFill>
                  <a:srgbClr val="222222"/>
                </a:solidFill>
              </a:rPr>
              <a:t> a </a:t>
            </a:r>
            <a:r>
              <a:rPr sz="1800" dirty="0" err="1">
                <a:solidFill>
                  <a:srgbClr val="222222"/>
                </a:solidFill>
              </a:rPr>
              <a:t>código</a:t>
            </a:r>
            <a:r>
              <a:rPr sz="1800" dirty="0">
                <a:solidFill>
                  <a:srgbClr val="222222"/>
                </a:solidFill>
              </a:rPr>
              <a:t> (</a:t>
            </a:r>
            <a:r>
              <a:rPr sz="1800" dirty="0" err="1">
                <a:solidFill>
                  <a:srgbClr val="222222"/>
                </a:solidFill>
              </a:rPr>
              <a:t>reglas</a:t>
            </a:r>
            <a:r>
              <a:rPr sz="1800" dirty="0">
                <a:solidFill>
                  <a:srgbClr val="222222"/>
                </a:solidFill>
              </a:rPr>
              <a:t>, frontend, tests)</a:t>
            </a: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El </a:t>
            </a:r>
            <a:r>
              <a:rPr sz="1800" dirty="0" err="1">
                <a:solidFill>
                  <a:srgbClr val="222222"/>
                </a:solidFill>
              </a:rPr>
              <a:t>criterio</a:t>
            </a:r>
            <a:r>
              <a:rPr sz="1800" dirty="0">
                <a:solidFill>
                  <a:srgbClr val="222222"/>
                </a:solidFill>
              </a:rPr>
              <a:t> de </a:t>
            </a:r>
            <a:r>
              <a:rPr sz="1800" dirty="0" err="1">
                <a:solidFill>
                  <a:srgbClr val="222222"/>
                </a:solidFill>
              </a:rPr>
              <a:t>ingeniería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sigue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siendo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humano</a:t>
            </a:r>
            <a:r>
              <a:rPr sz="1800" dirty="0">
                <a:solidFill>
                  <a:srgbClr val="222222"/>
                </a:solidFill>
              </a:rPr>
              <a:t>: </a:t>
            </a:r>
            <a:r>
              <a:rPr sz="1800" dirty="0" err="1">
                <a:solidFill>
                  <a:srgbClr val="222222"/>
                </a:solidFill>
              </a:rPr>
              <a:t>qué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lang="es-ES" sz="1800" dirty="0">
                <a:solidFill>
                  <a:srgbClr val="222222"/>
                </a:solidFill>
              </a:rPr>
              <a:t>hay que pedir</a:t>
            </a:r>
            <a:r>
              <a:rPr sz="1800" dirty="0">
                <a:solidFill>
                  <a:srgbClr val="222222"/>
                </a:solidFill>
              </a:rPr>
              <a:t>, </a:t>
            </a:r>
            <a:r>
              <a:rPr sz="1800" dirty="0" err="1">
                <a:solidFill>
                  <a:srgbClr val="222222"/>
                </a:solidFill>
              </a:rPr>
              <a:t>validar</a:t>
            </a:r>
            <a:r>
              <a:rPr sz="1800" dirty="0">
                <a:solidFill>
                  <a:srgbClr val="222222"/>
                </a:solidFill>
              </a:rPr>
              <a:t> y </a:t>
            </a:r>
            <a:r>
              <a:rPr sz="1800" dirty="0" err="1">
                <a:solidFill>
                  <a:srgbClr val="222222"/>
                </a:solidFill>
              </a:rPr>
              <a:t>rechazar</a:t>
            </a:r>
            <a:endParaRPr sz="1800" dirty="0">
              <a:solidFill>
                <a:srgbClr val="222222"/>
              </a:solidFill>
            </a:endParaRP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</a:t>
            </a:r>
            <a:r>
              <a:rPr sz="1800" dirty="0" err="1">
                <a:solidFill>
                  <a:srgbClr val="222222"/>
                </a:solidFill>
              </a:rPr>
              <a:t>Separar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lógica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determinista</a:t>
            </a:r>
            <a:r>
              <a:rPr sz="1800" dirty="0">
                <a:solidFill>
                  <a:srgbClr val="222222"/>
                </a:solidFill>
              </a:rPr>
              <a:t> de la IA-</a:t>
            </a:r>
            <a:r>
              <a:rPr sz="1800" dirty="0" err="1">
                <a:solidFill>
                  <a:srgbClr val="222222"/>
                </a:solidFill>
              </a:rPr>
              <a:t>herramienta</a:t>
            </a:r>
            <a:r>
              <a:rPr sz="1800" dirty="0">
                <a:solidFill>
                  <a:srgbClr val="222222"/>
                </a:solidFill>
              </a:rPr>
              <a:t> da un </a:t>
            </a:r>
            <a:r>
              <a:rPr sz="1800" dirty="0" err="1">
                <a:solidFill>
                  <a:srgbClr val="222222"/>
                </a:solidFill>
              </a:rPr>
              <a:t>sistema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fiable</a:t>
            </a:r>
            <a:r>
              <a:rPr sz="1800" dirty="0">
                <a:solidFill>
                  <a:srgbClr val="222222"/>
                </a:solidFill>
              </a:rPr>
              <a:t> y auditable</a:t>
            </a:r>
          </a:p>
          <a:p>
            <a:pPr>
              <a:spcAft>
                <a:spcPts val="1200"/>
              </a:spcAft>
            </a:pPr>
            <a:r>
              <a:rPr sz="1800" dirty="0">
                <a:solidFill>
                  <a:srgbClr val="222222"/>
                </a:solidFill>
              </a:rPr>
              <a:t>•  </a:t>
            </a:r>
            <a:r>
              <a:rPr sz="1800" dirty="0" err="1">
                <a:solidFill>
                  <a:srgbClr val="222222"/>
                </a:solidFill>
              </a:rPr>
              <a:t>Versionar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los</a:t>
            </a:r>
            <a:r>
              <a:rPr sz="1800" dirty="0">
                <a:solidFill>
                  <a:srgbClr val="222222"/>
                </a:solidFill>
              </a:rPr>
              <a:t> prompts es tan </a:t>
            </a:r>
            <a:r>
              <a:rPr sz="1800" dirty="0" err="1">
                <a:solidFill>
                  <a:srgbClr val="222222"/>
                </a:solidFill>
              </a:rPr>
              <a:t>importante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como</a:t>
            </a:r>
            <a:r>
              <a:rPr sz="1800" dirty="0">
                <a:solidFill>
                  <a:srgbClr val="222222"/>
                </a:solidFill>
              </a:rPr>
              <a:t> </a:t>
            </a:r>
            <a:r>
              <a:rPr sz="1800" dirty="0" err="1">
                <a:solidFill>
                  <a:srgbClr val="222222"/>
                </a:solidFill>
              </a:rPr>
              <a:t>versionar</a:t>
            </a:r>
            <a:r>
              <a:rPr sz="1800" dirty="0">
                <a:solidFill>
                  <a:srgbClr val="222222"/>
                </a:solidFill>
              </a:rPr>
              <a:t> el </a:t>
            </a:r>
            <a:r>
              <a:rPr sz="1800" dirty="0" err="1">
                <a:solidFill>
                  <a:srgbClr val="222222"/>
                </a:solidFill>
              </a:rPr>
              <a:t>código</a:t>
            </a:r>
            <a:endParaRPr sz="1800" dirty="0">
              <a:solidFill>
                <a:srgbClr val="22222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¡Gracias!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063240"/>
            <a:ext cx="1280160" cy="54864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33375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C7D3E8"/>
                </a:solidFill>
              </a:rPr>
              <a:t>Repositorio: `github.com/jesusbroceno/rule_engine` &lt;!-- TODO: confirmar público --&gt;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C7D3E8"/>
                </a:solidFill>
              </a:rPr>
              <a:t>Despliegue: _pendiente_ &lt;!-- TODO --&gt;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C7D3E8"/>
                </a:solidFill>
              </a:rPr>
              <a:t>Slides y vídeo: _enlaces en el README_ &lt;!-- TODO --&gt;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C7D3E8"/>
                </a:solidFill>
              </a:rPr>
              <a:t>Jesús M. Broceño · TFM BIG School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1644</Words>
  <Application>Microsoft Office PowerPoint</Application>
  <PresentationFormat>Panorámica</PresentationFormat>
  <Paragraphs>145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Jesús M. Broceño</cp:lastModifiedBy>
  <cp:revision>2</cp:revision>
  <dcterms:created xsi:type="dcterms:W3CDTF">2013-01-27T09:14:16Z</dcterms:created>
  <dcterms:modified xsi:type="dcterms:W3CDTF">2026-07-03T15:02:01Z</dcterms:modified>
  <cp:category/>
</cp:coreProperties>
</file>