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2" r:id="rId23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2" d="100"/>
          <a:sy n="102" d="100"/>
        </p:scale>
        <p:origin x="876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23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28117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"Os presento mi TFM: un motor de reglas que decide qué oferta hipotecaria asignar a un cliente. Pero el foco de hoy no es el motor en sí, sino cómo lo he construido con IA."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contexto real. No es un ejercicio inventado: nace de una necesidad concreta de negocio.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la clave de diseño es separar la lógica (reglas) de los valores (parámetros) y que ambos sean editables y datados.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reproduce el flujo real del simulador hipotecario, de menos a más datos.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este es el mensaje central del TFM. Decirlo con claridad y sin rodeos.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honestidad técnica. En un máster de IA es fácil sobrevender "uso IA en todo". Lo valioso es distinguir la IA-herramienta-de-construcción de la IA-en-producción.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enseñar `prompts/prompts.md` y `.opencode/prompts/dnf-engine.md` como prueba de que los prompts están versionados, no improvisados.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en la demo, abrir `openspec/changes/archive/` y enseñar el rastro real de un cambio (proposal → spec → design → tasks → verify). Es la prueba tangible de que no es *vibe-coding*.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ejemplo concreto donde la IA ayudó de verdad — aplicar De Morgan de forma sistemática y sin errores al traducir decenas de condiciones.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aquí sí hay complejidad real. Mostrar el configurador en la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cierra el círculo: no es un juguete aislado, se integra y se contrasta con producción.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los 25 *skipped* son tests *live* que necesitan SQL Server real; se omiten por diseño.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destacar que el núcleo del motor no tiene dependencias — fácil de migrar al workflow.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tener los datos de ejemplo preparados de antemano. Ver guion de vídeo para el detalle.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reflexión personal honesta — es lo que más valora un tribunal.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dejar la portada de contacto unos segundos para preguntas.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246120"/>
            <a:ext cx="164592" cy="146304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Motor de Reglas de Ofertas Hipotecarias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290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C7D3E8"/>
                </a:solidFill>
              </a:rPr>
              <a:t>Trabajo Fin de Máster · Máster en Desarrollo de Software potenciado con IA — BIG School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1605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C7D3E8"/>
                </a:solidFill>
              </a:rPr>
              <a:t>Autor: Jesús M. Broceño</a:t>
            </a:r>
          </a:p>
          <a:p>
            <a:r>
              <a:rPr sz="1600">
                <a:solidFill>
                  <a:srgbClr val="C7D3E8"/>
                </a:solidFill>
              </a:rPr>
              <a:t>Junio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B2A4A"/>
                </a:solidFill>
              </a:rPr>
              <a:t>El problema de negocio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43000"/>
            <a:ext cx="1280160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A5A"/>
                </a:solidFill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78638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dirty="0">
                <a:solidFill>
                  <a:srgbClr val="222222"/>
                </a:solidFill>
              </a:rPr>
              <a:t>Un</a:t>
            </a:r>
            <a:r>
              <a:rPr lang="es-ES" sz="2400" b="1" dirty="0">
                <a:solidFill>
                  <a:srgbClr val="222222"/>
                </a:solidFill>
              </a:rPr>
              <a:t>a entidad </a:t>
            </a:r>
            <a:r>
              <a:rPr sz="2400" b="1" dirty="0">
                <a:solidFill>
                  <a:srgbClr val="222222"/>
                </a:solidFill>
              </a:rPr>
              <a:t>banc</a:t>
            </a:r>
            <a:r>
              <a:rPr lang="es-ES" sz="2400" b="1" dirty="0">
                <a:solidFill>
                  <a:srgbClr val="222222"/>
                </a:solidFill>
              </a:rPr>
              <a:t>aria </a:t>
            </a:r>
            <a:r>
              <a:rPr sz="2400" b="1" dirty="0" err="1">
                <a:solidFill>
                  <a:srgbClr val="222222"/>
                </a:solidFill>
              </a:rPr>
              <a:t>quiere</a:t>
            </a:r>
            <a:r>
              <a:rPr sz="2400" b="1" dirty="0">
                <a:solidFill>
                  <a:srgbClr val="222222"/>
                </a:solidFill>
              </a:rPr>
              <a:t> </a:t>
            </a:r>
            <a:r>
              <a:rPr sz="2400" b="1" dirty="0" err="1">
                <a:solidFill>
                  <a:srgbClr val="222222"/>
                </a:solidFill>
              </a:rPr>
              <a:t>ofrecer</a:t>
            </a:r>
            <a:r>
              <a:rPr sz="2400" b="1" dirty="0">
                <a:solidFill>
                  <a:srgbClr val="222222"/>
                </a:solidFill>
              </a:rPr>
              <a:t> </a:t>
            </a:r>
            <a:r>
              <a:rPr sz="2400" b="1" dirty="0" err="1">
                <a:solidFill>
                  <a:srgbClr val="222222"/>
                </a:solidFill>
              </a:rPr>
              <a:t>precios</a:t>
            </a:r>
            <a:r>
              <a:rPr sz="2400" b="1" dirty="0">
                <a:solidFill>
                  <a:srgbClr val="222222"/>
                </a:solidFill>
              </a:rPr>
              <a:t> </a:t>
            </a:r>
            <a:r>
              <a:rPr sz="2400" b="1" dirty="0" err="1">
                <a:solidFill>
                  <a:srgbClr val="222222"/>
                </a:solidFill>
              </a:rPr>
              <a:t>diferenciados</a:t>
            </a:r>
            <a:endParaRPr sz="2400" b="1" dirty="0">
              <a:solidFill>
                <a:srgbClr val="222222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90605" y="2148840"/>
            <a:ext cx="985761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dirty="0">
                <a:solidFill>
                  <a:srgbClr val="222222"/>
                </a:solidFill>
              </a:rPr>
              <a:t>•  Cada </a:t>
            </a:r>
            <a:r>
              <a:rPr sz="2000" dirty="0" err="1">
                <a:solidFill>
                  <a:srgbClr val="222222"/>
                </a:solidFill>
              </a:rPr>
              <a:t>perfil</a:t>
            </a:r>
            <a:r>
              <a:rPr sz="2000" dirty="0">
                <a:solidFill>
                  <a:srgbClr val="222222"/>
                </a:solidFill>
              </a:rPr>
              <a:t> de </a:t>
            </a:r>
            <a:r>
              <a:rPr sz="2000" dirty="0" err="1">
                <a:solidFill>
                  <a:srgbClr val="222222"/>
                </a:solidFill>
              </a:rPr>
              <a:t>cliente</a:t>
            </a:r>
            <a:r>
              <a:rPr sz="2000" dirty="0">
                <a:solidFill>
                  <a:srgbClr val="222222"/>
                </a:solidFill>
              </a:rPr>
              <a:t> </a:t>
            </a:r>
            <a:r>
              <a:rPr sz="2000" dirty="0" err="1">
                <a:solidFill>
                  <a:srgbClr val="222222"/>
                </a:solidFill>
              </a:rPr>
              <a:t>tiene</a:t>
            </a:r>
            <a:r>
              <a:rPr sz="2000" dirty="0">
                <a:solidFill>
                  <a:srgbClr val="222222"/>
                </a:solidFill>
              </a:rPr>
              <a:t> derecho a </a:t>
            </a:r>
            <a:r>
              <a:rPr sz="2000" dirty="0" err="1">
                <a:solidFill>
                  <a:srgbClr val="222222"/>
                </a:solidFill>
              </a:rPr>
              <a:t>una</a:t>
            </a:r>
            <a:r>
              <a:rPr sz="2000" dirty="0">
                <a:solidFill>
                  <a:srgbClr val="222222"/>
                </a:solidFill>
              </a:rPr>
              <a:t> </a:t>
            </a:r>
            <a:r>
              <a:rPr sz="2000" dirty="0" err="1">
                <a:solidFill>
                  <a:srgbClr val="222222"/>
                </a:solidFill>
              </a:rPr>
              <a:t>oferta</a:t>
            </a:r>
            <a:r>
              <a:rPr sz="2000" dirty="0">
                <a:solidFill>
                  <a:srgbClr val="222222"/>
                </a:solidFill>
              </a:rPr>
              <a:t> </a:t>
            </a:r>
            <a:r>
              <a:rPr sz="2000" dirty="0" err="1">
                <a:solidFill>
                  <a:srgbClr val="222222"/>
                </a:solidFill>
              </a:rPr>
              <a:t>distinta</a:t>
            </a:r>
            <a:r>
              <a:rPr lang="es-ES" sz="2000" dirty="0">
                <a:solidFill>
                  <a:srgbClr val="222222"/>
                </a:solidFill>
              </a:rPr>
              <a:t> que además permite extender parámetros estándar </a:t>
            </a:r>
            <a:r>
              <a:rPr sz="2000" dirty="0">
                <a:solidFill>
                  <a:srgbClr val="222222"/>
                </a:solidFill>
              </a:rPr>
              <a:t>(LTV, </a:t>
            </a:r>
            <a:r>
              <a:rPr sz="2000" dirty="0" err="1">
                <a:solidFill>
                  <a:srgbClr val="222222"/>
                </a:solidFill>
              </a:rPr>
              <a:t>plazo</a:t>
            </a:r>
            <a:r>
              <a:rPr sz="2000" dirty="0">
                <a:solidFill>
                  <a:srgbClr val="222222"/>
                </a:solidFill>
              </a:rPr>
              <a:t>, </a:t>
            </a:r>
            <a:r>
              <a:rPr sz="2000" dirty="0" err="1">
                <a:solidFill>
                  <a:srgbClr val="222222"/>
                </a:solidFill>
              </a:rPr>
              <a:t>importe</a:t>
            </a:r>
            <a:r>
              <a:rPr sz="2000" dirty="0">
                <a:solidFill>
                  <a:srgbClr val="222222"/>
                </a:solidFill>
              </a:rPr>
              <a:t>, </a:t>
            </a:r>
            <a:r>
              <a:rPr sz="2000" dirty="0" err="1">
                <a:solidFill>
                  <a:srgbClr val="222222"/>
                </a:solidFill>
              </a:rPr>
              <a:t>edad</a:t>
            </a:r>
            <a:r>
              <a:rPr sz="2000" dirty="0">
                <a:solidFill>
                  <a:srgbClr val="222222"/>
                </a:solidFill>
              </a:rPr>
              <a:t>, </a:t>
            </a:r>
            <a:r>
              <a:rPr sz="2000" dirty="0" err="1">
                <a:solidFill>
                  <a:srgbClr val="222222"/>
                </a:solidFill>
              </a:rPr>
              <a:t>ingresos</a:t>
            </a:r>
            <a:r>
              <a:rPr sz="2000" dirty="0">
                <a:solidFill>
                  <a:srgbClr val="222222"/>
                </a:solidFill>
              </a:rPr>
              <a:t>…)</a:t>
            </a:r>
            <a:endParaRPr lang="es-ES" sz="2000" dirty="0">
              <a:solidFill>
                <a:srgbClr val="222222"/>
              </a:solidFill>
            </a:endParaRPr>
          </a:p>
          <a:p>
            <a:pPr>
              <a:spcAft>
                <a:spcPts val="1200"/>
              </a:spcAft>
            </a:pPr>
            <a:endParaRPr sz="2000" dirty="0">
              <a:solidFill>
                <a:srgbClr val="222222"/>
              </a:solidFill>
            </a:endParaRPr>
          </a:p>
          <a:p>
            <a:pPr>
              <a:spcAft>
                <a:spcPts val="1200"/>
              </a:spcAft>
            </a:pPr>
            <a:r>
              <a:rPr sz="2000" dirty="0">
                <a:solidFill>
                  <a:srgbClr val="222222"/>
                </a:solidFill>
              </a:rPr>
              <a:t>•  Las </a:t>
            </a:r>
            <a:r>
              <a:rPr sz="2000" dirty="0" err="1">
                <a:solidFill>
                  <a:srgbClr val="222222"/>
                </a:solidFill>
              </a:rPr>
              <a:t>condiciones</a:t>
            </a:r>
            <a:r>
              <a:rPr lang="es-ES" sz="2000" dirty="0">
                <a:solidFill>
                  <a:srgbClr val="222222"/>
                </a:solidFill>
              </a:rPr>
              <a:t> </a:t>
            </a:r>
            <a:r>
              <a:rPr sz="2000" dirty="0" err="1">
                <a:solidFill>
                  <a:srgbClr val="222222"/>
                </a:solidFill>
              </a:rPr>
              <a:t>cambian</a:t>
            </a:r>
            <a:r>
              <a:rPr sz="2000" dirty="0">
                <a:solidFill>
                  <a:srgbClr val="222222"/>
                </a:solidFill>
              </a:rPr>
              <a:t> con el </a:t>
            </a:r>
            <a:r>
              <a:rPr sz="2000" dirty="0" err="1">
                <a:solidFill>
                  <a:srgbClr val="222222"/>
                </a:solidFill>
              </a:rPr>
              <a:t>tiempo</a:t>
            </a:r>
            <a:r>
              <a:rPr sz="2000" dirty="0">
                <a:solidFill>
                  <a:srgbClr val="222222"/>
                </a:solidFill>
              </a:rPr>
              <a:t> → hay </a:t>
            </a:r>
            <a:r>
              <a:rPr sz="2000" dirty="0" err="1">
                <a:solidFill>
                  <a:srgbClr val="222222"/>
                </a:solidFill>
              </a:rPr>
              <a:t>que</a:t>
            </a:r>
            <a:r>
              <a:rPr sz="2000" dirty="0">
                <a:solidFill>
                  <a:srgbClr val="222222"/>
                </a:solidFill>
              </a:rPr>
              <a:t> </a:t>
            </a:r>
            <a:r>
              <a:rPr sz="2000" dirty="0" err="1">
                <a:solidFill>
                  <a:srgbClr val="222222"/>
                </a:solidFill>
              </a:rPr>
              <a:t>historificar</a:t>
            </a:r>
            <a:r>
              <a:rPr sz="2000" dirty="0">
                <a:solidFill>
                  <a:srgbClr val="222222"/>
                </a:solidFill>
              </a:rPr>
              <a:t> y </a:t>
            </a:r>
            <a:r>
              <a:rPr sz="2000" dirty="0" err="1">
                <a:solidFill>
                  <a:srgbClr val="222222"/>
                </a:solidFill>
              </a:rPr>
              <a:t>poder</a:t>
            </a:r>
            <a:r>
              <a:rPr sz="2000" dirty="0">
                <a:solidFill>
                  <a:srgbClr val="222222"/>
                </a:solidFill>
              </a:rPr>
              <a:t> </a:t>
            </a:r>
            <a:r>
              <a:rPr sz="2000" dirty="0" err="1">
                <a:solidFill>
                  <a:srgbClr val="222222"/>
                </a:solidFill>
              </a:rPr>
              <a:t>simular</a:t>
            </a:r>
            <a:endParaRPr lang="es-ES" sz="2000" dirty="0">
              <a:solidFill>
                <a:srgbClr val="222222"/>
              </a:solidFill>
            </a:endParaRPr>
          </a:p>
          <a:p>
            <a:pPr>
              <a:spcAft>
                <a:spcPts val="1200"/>
              </a:spcAft>
            </a:pPr>
            <a:endParaRPr lang="es-ES" sz="2000" dirty="0">
              <a:solidFill>
                <a:srgbClr val="222222"/>
              </a:solidFill>
            </a:endParaRPr>
          </a:p>
          <a:p>
            <a:pPr>
              <a:spcAft>
                <a:spcPts val="1200"/>
              </a:spcAft>
            </a:pPr>
            <a:r>
              <a:rPr lang="es-ES" sz="2000" dirty="0">
                <a:solidFill>
                  <a:srgbClr val="222222"/>
                </a:solidFill>
              </a:rPr>
              <a:t>•  La solución completa debe estar implementada en menos de 2 meses (el motor de elegibilidad de ofertas es solo una pequeña parte del problema). </a:t>
            </a:r>
          </a:p>
          <a:p>
            <a:pPr>
              <a:spcAft>
                <a:spcPts val="1200"/>
              </a:spcAft>
            </a:pPr>
            <a:endParaRPr lang="es-ES" sz="2000" dirty="0">
              <a:solidFill>
                <a:srgbClr val="222222"/>
              </a:solidFill>
            </a:endParaRPr>
          </a:p>
          <a:p>
            <a:pPr>
              <a:spcAft>
                <a:spcPts val="1200"/>
              </a:spcAft>
            </a:pPr>
            <a:endParaRPr sz="2000" dirty="0">
              <a:solidFill>
                <a:srgbClr val="22222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B2A4A"/>
                </a:solidFill>
              </a:rPr>
              <a:t>La idea: un motor de reglas configurable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43000"/>
            <a:ext cx="1280160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A5A"/>
                </a:solidFill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3837"/>
            <a:ext cx="1065983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dirty="0">
                <a:solidFill>
                  <a:srgbClr val="222222"/>
                </a:solidFill>
              </a:rPr>
              <a:t>Dado un conjunto de </a:t>
            </a:r>
            <a:r>
              <a:rPr sz="2400" b="1" dirty="0" err="1">
                <a:solidFill>
                  <a:srgbClr val="222222"/>
                </a:solidFill>
              </a:rPr>
              <a:t>reglas</a:t>
            </a:r>
            <a:r>
              <a:rPr sz="2400" b="1" dirty="0">
                <a:solidFill>
                  <a:srgbClr val="222222"/>
                </a:solidFill>
              </a:rPr>
              <a:t> (un</a:t>
            </a:r>
            <a:r>
              <a:rPr lang="es-ES" sz="2400" b="1" dirty="0">
                <a:solidFill>
                  <a:srgbClr val="222222"/>
                </a:solidFill>
              </a:rPr>
              <a:t>o</a:t>
            </a:r>
            <a:r>
              <a:rPr sz="2400" b="1" dirty="0">
                <a:solidFill>
                  <a:srgbClr val="222222"/>
                </a:solidFill>
              </a:rPr>
              <a:t> </a:t>
            </a:r>
            <a:r>
              <a:rPr sz="2400" b="1" dirty="0" err="1">
                <a:solidFill>
                  <a:srgbClr val="222222"/>
                </a:solidFill>
              </a:rPr>
              <a:t>por</a:t>
            </a:r>
            <a:r>
              <a:rPr sz="2400" b="1" dirty="0">
                <a:solidFill>
                  <a:srgbClr val="222222"/>
                </a:solidFill>
              </a:rPr>
              <a:t> </a:t>
            </a:r>
            <a:r>
              <a:rPr sz="2400" b="1" dirty="0" err="1">
                <a:solidFill>
                  <a:srgbClr val="222222"/>
                </a:solidFill>
              </a:rPr>
              <a:t>oferta</a:t>
            </a:r>
            <a:r>
              <a:rPr sz="2400" b="1" dirty="0">
                <a:solidFill>
                  <a:srgbClr val="222222"/>
                </a:solidFill>
              </a:rPr>
              <a:t>) y </a:t>
            </a:r>
            <a:r>
              <a:rPr sz="2400" b="1" dirty="0" err="1">
                <a:solidFill>
                  <a:srgbClr val="222222"/>
                </a:solidFill>
              </a:rPr>
              <a:t>parámetros</a:t>
            </a:r>
            <a:r>
              <a:rPr sz="2400" b="1" dirty="0">
                <a:solidFill>
                  <a:srgbClr val="222222"/>
                </a:solidFill>
              </a:rPr>
              <a:t> → </a:t>
            </a:r>
            <a:r>
              <a:rPr sz="2400" b="1" dirty="0" err="1">
                <a:solidFill>
                  <a:srgbClr val="222222"/>
                </a:solidFill>
              </a:rPr>
              <a:t>devuelve</a:t>
            </a:r>
            <a:r>
              <a:rPr sz="2400" b="1" dirty="0">
                <a:solidFill>
                  <a:srgbClr val="222222"/>
                </a:solidFill>
              </a:rPr>
              <a:t> </a:t>
            </a:r>
            <a:r>
              <a:rPr sz="2400" b="1" dirty="0" err="1">
                <a:solidFill>
                  <a:srgbClr val="222222"/>
                </a:solidFill>
              </a:rPr>
              <a:t>ofertas</a:t>
            </a:r>
            <a:r>
              <a:rPr sz="2400" b="1" dirty="0">
                <a:solidFill>
                  <a:srgbClr val="222222"/>
                </a:solidFill>
              </a:rPr>
              <a:t> </a:t>
            </a:r>
            <a:r>
              <a:rPr sz="2400" b="1" dirty="0" err="1">
                <a:solidFill>
                  <a:srgbClr val="222222"/>
                </a:solidFill>
              </a:rPr>
              <a:t>elegibles</a:t>
            </a:r>
            <a:r>
              <a:rPr sz="2400" b="1" dirty="0">
                <a:solidFill>
                  <a:srgbClr val="222222"/>
                </a:solidFill>
              </a:rPr>
              <a:t> y </a:t>
            </a:r>
            <a:r>
              <a:rPr sz="2400" b="1" dirty="0" err="1">
                <a:solidFill>
                  <a:srgbClr val="222222"/>
                </a:solidFill>
              </a:rPr>
              <a:t>límites</a:t>
            </a:r>
            <a:endParaRPr sz="2400" b="1" dirty="0">
              <a:solidFill>
                <a:srgbClr val="222222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88720" y="2353985"/>
            <a:ext cx="9746373" cy="4001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es-ES" sz="2000" dirty="0">
                <a:solidFill>
                  <a:srgbClr val="222222"/>
                </a:solidFill>
              </a:rPr>
              <a:t>• La entidad requería condiciones parametrizadas para cada producto. En poco tiempo las condiciones han ido cambiando, el número de ofertas se ha incrementado y el conjunto de ofertas x condiciones x parámetros se hacía inmanejable. </a:t>
            </a:r>
          </a:p>
          <a:p>
            <a:pPr>
              <a:spcAft>
                <a:spcPts val="1200"/>
              </a:spcAft>
            </a:pPr>
            <a:r>
              <a:rPr lang="es-ES" sz="2000" dirty="0">
                <a:solidFill>
                  <a:srgbClr val="222222"/>
                </a:solidFill>
              </a:rPr>
              <a:t>• Un algoritmo con condiciones fijas implicaba rigidez a la hora de definir las reglas y modificación de código/despliegue en cada cambio.</a:t>
            </a:r>
          </a:p>
          <a:p>
            <a:pPr>
              <a:spcAft>
                <a:spcPts val="1200"/>
              </a:spcAft>
            </a:pPr>
            <a:r>
              <a:rPr lang="es-ES" sz="2000" dirty="0">
                <a:solidFill>
                  <a:srgbClr val="222222"/>
                </a:solidFill>
              </a:rPr>
              <a:t>• Un motor de reglas permitiría definir por configuración un conjunto de condiciones que usen valores parametrizables. La solución permitiría el cálculo de ofertas:</a:t>
            </a:r>
          </a:p>
          <a:p>
            <a:pPr>
              <a:spcAft>
                <a:spcPts val="1200"/>
              </a:spcAft>
            </a:pPr>
            <a:r>
              <a:rPr lang="es-ES" sz="2400" dirty="0">
                <a:solidFill>
                  <a:srgbClr val="222222"/>
                </a:solidFill>
              </a:rPr>
              <a:t>	</a:t>
            </a:r>
            <a:r>
              <a:rPr sz="2400" dirty="0">
                <a:solidFill>
                  <a:srgbClr val="222222"/>
                </a:solidFill>
              </a:rPr>
              <a:t>•  </a:t>
            </a:r>
            <a:r>
              <a:rPr sz="2000" dirty="0">
                <a:solidFill>
                  <a:srgbClr val="222222"/>
                </a:solidFill>
              </a:rPr>
              <a:t>Sin </a:t>
            </a:r>
            <a:r>
              <a:rPr sz="2000" dirty="0" err="1">
                <a:solidFill>
                  <a:srgbClr val="222222"/>
                </a:solidFill>
              </a:rPr>
              <a:t>recompilar</a:t>
            </a:r>
            <a:r>
              <a:rPr sz="2000" dirty="0">
                <a:solidFill>
                  <a:srgbClr val="222222"/>
                </a:solidFill>
              </a:rPr>
              <a:t> </a:t>
            </a:r>
            <a:r>
              <a:rPr sz="2000" dirty="0" err="1">
                <a:solidFill>
                  <a:srgbClr val="222222"/>
                </a:solidFill>
              </a:rPr>
              <a:t>ni</a:t>
            </a:r>
            <a:r>
              <a:rPr sz="2000" dirty="0">
                <a:solidFill>
                  <a:srgbClr val="222222"/>
                </a:solidFill>
              </a:rPr>
              <a:t> </a:t>
            </a:r>
            <a:r>
              <a:rPr sz="2000" dirty="0" err="1">
                <a:solidFill>
                  <a:srgbClr val="222222"/>
                </a:solidFill>
              </a:rPr>
              <a:t>tocar</a:t>
            </a:r>
            <a:r>
              <a:rPr sz="2000" dirty="0">
                <a:solidFill>
                  <a:srgbClr val="222222"/>
                </a:solidFill>
              </a:rPr>
              <a:t> </a:t>
            </a:r>
            <a:r>
              <a:rPr sz="2000" dirty="0" err="1">
                <a:solidFill>
                  <a:srgbClr val="222222"/>
                </a:solidFill>
              </a:rPr>
              <a:t>código</a:t>
            </a:r>
            <a:r>
              <a:rPr sz="2000" dirty="0">
                <a:solidFill>
                  <a:srgbClr val="222222"/>
                </a:solidFill>
              </a:rPr>
              <a:t>: </a:t>
            </a:r>
            <a:r>
              <a:rPr sz="2000" dirty="0" err="1">
                <a:solidFill>
                  <a:srgbClr val="222222"/>
                </a:solidFill>
              </a:rPr>
              <a:t>todo</a:t>
            </a:r>
            <a:r>
              <a:rPr sz="2000" dirty="0">
                <a:solidFill>
                  <a:srgbClr val="222222"/>
                </a:solidFill>
              </a:rPr>
              <a:t> es </a:t>
            </a:r>
            <a:r>
              <a:rPr sz="2000" dirty="0" err="1">
                <a:solidFill>
                  <a:srgbClr val="222222"/>
                </a:solidFill>
              </a:rPr>
              <a:t>configuración</a:t>
            </a:r>
            <a:endParaRPr sz="2000" dirty="0">
              <a:solidFill>
                <a:srgbClr val="222222"/>
              </a:solidFill>
            </a:endParaRPr>
          </a:p>
          <a:p>
            <a:pPr>
              <a:spcAft>
                <a:spcPts val="1200"/>
              </a:spcAft>
            </a:pPr>
            <a:r>
              <a:rPr lang="es-ES" sz="2000" dirty="0">
                <a:solidFill>
                  <a:srgbClr val="222222"/>
                </a:solidFill>
              </a:rPr>
              <a:t>	</a:t>
            </a:r>
            <a:r>
              <a:rPr sz="2000" dirty="0">
                <a:solidFill>
                  <a:srgbClr val="222222"/>
                </a:solidFill>
              </a:rPr>
              <a:t>•  Reglas para </a:t>
            </a:r>
            <a:r>
              <a:rPr sz="2000" dirty="0" err="1">
                <a:solidFill>
                  <a:srgbClr val="222222"/>
                </a:solidFill>
              </a:rPr>
              <a:t>perfil</a:t>
            </a:r>
            <a:r>
              <a:rPr sz="2000" dirty="0">
                <a:solidFill>
                  <a:srgbClr val="222222"/>
                </a:solidFill>
              </a:rPr>
              <a:t> </a:t>
            </a:r>
            <a:r>
              <a:rPr sz="2000" dirty="0" err="1">
                <a:solidFill>
                  <a:srgbClr val="222222"/>
                </a:solidFill>
              </a:rPr>
              <a:t>técnico</a:t>
            </a:r>
            <a:r>
              <a:rPr sz="2000" dirty="0">
                <a:solidFill>
                  <a:srgbClr val="222222"/>
                </a:solidFill>
              </a:rPr>
              <a:t> · </a:t>
            </a:r>
            <a:r>
              <a:rPr sz="2000" dirty="0" err="1">
                <a:solidFill>
                  <a:srgbClr val="222222"/>
                </a:solidFill>
              </a:rPr>
              <a:t>parámetros</a:t>
            </a:r>
            <a:r>
              <a:rPr sz="2000" dirty="0">
                <a:solidFill>
                  <a:srgbClr val="222222"/>
                </a:solidFill>
              </a:rPr>
              <a:t> para </a:t>
            </a:r>
            <a:r>
              <a:rPr sz="2000" dirty="0" err="1">
                <a:solidFill>
                  <a:srgbClr val="222222"/>
                </a:solidFill>
              </a:rPr>
              <a:t>perfil</a:t>
            </a:r>
            <a:r>
              <a:rPr sz="2000" dirty="0">
                <a:solidFill>
                  <a:srgbClr val="222222"/>
                </a:solidFill>
              </a:rPr>
              <a:t> de </a:t>
            </a:r>
            <a:r>
              <a:rPr sz="2000" dirty="0" err="1">
                <a:solidFill>
                  <a:srgbClr val="222222"/>
                </a:solidFill>
              </a:rPr>
              <a:t>negocio</a:t>
            </a:r>
            <a:endParaRPr sz="2000" dirty="0">
              <a:solidFill>
                <a:srgbClr val="222222"/>
              </a:solidFill>
            </a:endParaRPr>
          </a:p>
          <a:p>
            <a:pPr>
              <a:spcAft>
                <a:spcPts val="1200"/>
              </a:spcAft>
            </a:pPr>
            <a:r>
              <a:rPr lang="es-ES" sz="2000" dirty="0">
                <a:solidFill>
                  <a:srgbClr val="222222"/>
                </a:solidFill>
              </a:rPr>
              <a:t>	</a:t>
            </a:r>
            <a:r>
              <a:rPr sz="2000" dirty="0">
                <a:solidFill>
                  <a:srgbClr val="222222"/>
                </a:solidFill>
              </a:rPr>
              <a:t>•  </a:t>
            </a:r>
            <a:r>
              <a:rPr sz="2000" dirty="0" err="1">
                <a:solidFill>
                  <a:srgbClr val="222222"/>
                </a:solidFill>
              </a:rPr>
              <a:t>Versionado</a:t>
            </a:r>
            <a:r>
              <a:rPr sz="2000" dirty="0">
                <a:solidFill>
                  <a:srgbClr val="222222"/>
                </a:solidFill>
              </a:rPr>
              <a:t> </a:t>
            </a:r>
            <a:r>
              <a:rPr sz="2000" dirty="0" err="1">
                <a:solidFill>
                  <a:srgbClr val="222222"/>
                </a:solidFill>
              </a:rPr>
              <a:t>por</a:t>
            </a:r>
            <a:r>
              <a:rPr sz="2000" dirty="0">
                <a:solidFill>
                  <a:srgbClr val="222222"/>
                </a:solidFill>
              </a:rPr>
              <a:t> </a:t>
            </a:r>
            <a:r>
              <a:rPr sz="2000" dirty="0" err="1">
                <a:solidFill>
                  <a:srgbClr val="222222"/>
                </a:solidFill>
              </a:rPr>
              <a:t>vigencias</a:t>
            </a:r>
            <a:r>
              <a:rPr sz="2000" dirty="0">
                <a:solidFill>
                  <a:srgbClr val="222222"/>
                </a:solidFill>
              </a:rPr>
              <a:t>: "</a:t>
            </a:r>
            <a:r>
              <a:rPr sz="2000" dirty="0" err="1">
                <a:solidFill>
                  <a:srgbClr val="222222"/>
                </a:solidFill>
              </a:rPr>
              <a:t>qué</a:t>
            </a:r>
            <a:r>
              <a:rPr sz="2000" dirty="0">
                <a:solidFill>
                  <a:srgbClr val="222222"/>
                </a:solidFill>
              </a:rPr>
              <a:t> </a:t>
            </a:r>
            <a:r>
              <a:rPr sz="2000" dirty="0" err="1">
                <a:solidFill>
                  <a:srgbClr val="222222"/>
                </a:solidFill>
              </a:rPr>
              <a:t>reglas</a:t>
            </a:r>
            <a:r>
              <a:rPr sz="2000" dirty="0">
                <a:solidFill>
                  <a:srgbClr val="222222"/>
                </a:solidFill>
              </a:rPr>
              <a:t> </a:t>
            </a:r>
            <a:r>
              <a:rPr lang="es-ES" sz="2000" dirty="0">
                <a:solidFill>
                  <a:srgbClr val="222222"/>
                </a:solidFill>
              </a:rPr>
              <a:t>y qué parámetros </a:t>
            </a:r>
            <a:r>
              <a:rPr sz="2000" dirty="0" err="1">
                <a:solidFill>
                  <a:srgbClr val="222222"/>
                </a:solidFill>
              </a:rPr>
              <a:t>aplicaban</a:t>
            </a:r>
            <a:r>
              <a:rPr sz="2000" dirty="0">
                <a:solidFill>
                  <a:srgbClr val="222222"/>
                </a:solidFill>
              </a:rPr>
              <a:t> </a:t>
            </a:r>
            <a:r>
              <a:rPr sz="2000" dirty="0" err="1">
                <a:solidFill>
                  <a:srgbClr val="222222"/>
                </a:solidFill>
              </a:rPr>
              <a:t>en</a:t>
            </a:r>
            <a:r>
              <a:rPr sz="2000" dirty="0">
                <a:solidFill>
                  <a:srgbClr val="222222"/>
                </a:solidFill>
              </a:rPr>
              <a:t> </a:t>
            </a:r>
            <a:r>
              <a:rPr sz="2000" dirty="0" err="1">
                <a:solidFill>
                  <a:srgbClr val="222222"/>
                </a:solidFill>
              </a:rPr>
              <a:t>tal</a:t>
            </a:r>
            <a:r>
              <a:rPr sz="2000" dirty="0">
                <a:solidFill>
                  <a:srgbClr val="222222"/>
                </a:solidFill>
              </a:rPr>
              <a:t> </a:t>
            </a:r>
            <a:r>
              <a:rPr sz="2000" dirty="0" err="1">
                <a:solidFill>
                  <a:srgbClr val="222222"/>
                </a:solidFill>
              </a:rPr>
              <a:t>fecha</a:t>
            </a:r>
            <a:r>
              <a:rPr sz="2000" dirty="0">
                <a:solidFill>
                  <a:srgbClr val="222222"/>
                </a:solidFill>
              </a:rPr>
              <a:t>"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983980" y="3297241"/>
            <a:ext cx="960120" cy="0"/>
          </a:xfrm>
          <a:prstGeom prst="line">
            <a:avLst/>
          </a:prstGeom>
          <a:ln w="1270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B2A4A"/>
                </a:solidFill>
              </a:rPr>
              <a:t>El pipeline de 3 fases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43000"/>
            <a:ext cx="1280160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A5A"/>
                </a:solidFill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14706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dirty="0">
                <a:solidFill>
                  <a:srgbClr val="222222"/>
                </a:solidFill>
              </a:rPr>
              <a:t>INIT → PRE → FINAL (</a:t>
            </a:r>
            <a:r>
              <a:rPr sz="2400" b="1" dirty="0" err="1">
                <a:solidFill>
                  <a:srgbClr val="222222"/>
                </a:solidFill>
              </a:rPr>
              <a:t>cada</a:t>
            </a:r>
            <a:r>
              <a:rPr sz="2400" b="1" dirty="0">
                <a:solidFill>
                  <a:srgbClr val="222222"/>
                </a:solidFill>
              </a:rPr>
              <a:t> </a:t>
            </a:r>
            <a:r>
              <a:rPr sz="2400" b="1" dirty="0" err="1">
                <a:solidFill>
                  <a:srgbClr val="222222"/>
                </a:solidFill>
              </a:rPr>
              <a:t>fase</a:t>
            </a:r>
            <a:r>
              <a:rPr sz="2400" b="1" dirty="0">
                <a:solidFill>
                  <a:srgbClr val="222222"/>
                </a:solidFill>
              </a:rPr>
              <a:t> </a:t>
            </a:r>
            <a:r>
              <a:rPr sz="2400" b="1" dirty="0" err="1">
                <a:solidFill>
                  <a:srgbClr val="222222"/>
                </a:solidFill>
              </a:rPr>
              <a:t>recibe</a:t>
            </a:r>
            <a:r>
              <a:rPr sz="2400" b="1" dirty="0">
                <a:solidFill>
                  <a:srgbClr val="222222"/>
                </a:solidFill>
              </a:rPr>
              <a:t> </a:t>
            </a:r>
            <a:r>
              <a:rPr sz="2400" b="1" dirty="0" err="1">
                <a:solidFill>
                  <a:srgbClr val="222222"/>
                </a:solidFill>
              </a:rPr>
              <a:t>su</a:t>
            </a:r>
            <a:r>
              <a:rPr sz="2400" b="1" dirty="0">
                <a:solidFill>
                  <a:srgbClr val="222222"/>
                </a:solidFill>
              </a:rPr>
              <a:t> </a:t>
            </a:r>
            <a:r>
              <a:rPr sz="2400" b="1" dirty="0" err="1">
                <a:solidFill>
                  <a:srgbClr val="222222"/>
                </a:solidFill>
              </a:rPr>
              <a:t>propio</a:t>
            </a:r>
            <a:r>
              <a:rPr sz="2400" b="1" dirty="0">
                <a:solidFill>
                  <a:srgbClr val="222222"/>
                </a:solidFill>
              </a:rPr>
              <a:t> input </a:t>
            </a:r>
            <a:r>
              <a:rPr sz="2400" b="1" dirty="0" err="1">
                <a:solidFill>
                  <a:srgbClr val="222222"/>
                </a:solidFill>
              </a:rPr>
              <a:t>completo</a:t>
            </a:r>
            <a:r>
              <a:rPr sz="2400" b="1" dirty="0">
                <a:solidFill>
                  <a:srgbClr val="222222"/>
                </a:solidFill>
              </a:rPr>
              <a:t>, sin </a:t>
            </a:r>
            <a:r>
              <a:rPr sz="2400" b="1" dirty="0" err="1">
                <a:solidFill>
                  <a:srgbClr val="222222"/>
                </a:solidFill>
              </a:rPr>
              <a:t>estado</a:t>
            </a:r>
            <a:r>
              <a:rPr sz="2400" b="1" dirty="0">
                <a:solidFill>
                  <a:srgbClr val="222222"/>
                </a:solidFill>
              </a:rPr>
              <a:t> </a:t>
            </a:r>
            <a:r>
              <a:rPr sz="2400" b="1" dirty="0" err="1">
                <a:solidFill>
                  <a:srgbClr val="222222"/>
                </a:solidFill>
              </a:rPr>
              <a:t>compartido</a:t>
            </a:r>
            <a:r>
              <a:rPr sz="2400" b="1" dirty="0">
                <a:solidFill>
                  <a:srgbClr val="222222"/>
                </a:solidFill>
              </a:rPr>
              <a:t>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250775"/>
              </p:ext>
            </p:extLst>
          </p:nvPr>
        </p:nvGraphicFramePr>
        <p:xfrm>
          <a:off x="563880" y="3753719"/>
          <a:ext cx="1106424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88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88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Fase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Decide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Con qué datos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INIT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Elegibilidad inicial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Datos mínimos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rPr dirty="0"/>
                        <a:t>PRE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Pre-elegibilidad + límites del simulador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Simulación inicial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rPr dirty="0"/>
                        <a:t>FINAL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Oferta ganadora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rPr dirty="0"/>
                        <a:t>Datos </a:t>
                      </a:r>
                      <a:r>
                        <a:rPr dirty="0" err="1"/>
                        <a:t>definitivos</a:t>
                      </a:r>
                      <a:r>
                        <a:rPr dirty="0"/>
                        <a:t> del </a:t>
                      </a:r>
                      <a:r>
                        <a:rPr dirty="0" err="1"/>
                        <a:t>préstamo</a:t>
                      </a:r>
                      <a:endParaRPr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77520" y="2011680"/>
            <a:ext cx="1106424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2000" dirty="0">
                <a:solidFill>
                  <a:srgbClr val="222222"/>
                </a:solidFill>
              </a:rPr>
              <a:t>•  La </a:t>
            </a:r>
            <a:r>
              <a:rPr lang="es-ES" sz="2000" dirty="0">
                <a:solidFill>
                  <a:srgbClr val="222222"/>
                </a:solidFill>
              </a:rPr>
              <a:t>simulación tiene tres pasos para llegar a recabar toda la información para poder elegir la oferta final</a:t>
            </a:r>
          </a:p>
          <a:p>
            <a:pPr>
              <a:spcAft>
                <a:spcPts val="1800"/>
              </a:spcAft>
            </a:pPr>
            <a:r>
              <a:rPr lang="es-ES" sz="2000" dirty="0">
                <a:solidFill>
                  <a:srgbClr val="222222"/>
                </a:solidFill>
              </a:rPr>
              <a:t>•  En cada paso hay conjuntos de información diferente que hay que evaluar. </a:t>
            </a:r>
          </a:p>
          <a:p>
            <a:pPr>
              <a:spcAft>
                <a:spcPts val="1800"/>
              </a:spcAft>
            </a:pPr>
            <a:r>
              <a:rPr lang="es-ES" sz="2000" dirty="0">
                <a:solidFill>
                  <a:srgbClr val="222222"/>
                </a:solidFill>
              </a:rPr>
              <a:t>• Se define un modelo de ejecución por fase a medida que se obtienen los datos necesarios</a:t>
            </a:r>
          </a:p>
        </p:txBody>
      </p:sp>
      <p:sp>
        <p:nvSpPr>
          <p:cNvPr id="10" name="TextBox 7">
            <a:extLst>
              <a:ext uri="{FF2B5EF4-FFF2-40B4-BE49-F238E27FC236}">
                <a16:creationId xmlns:a16="http://schemas.microsoft.com/office/drawing/2014/main" id="{A4E9B0D1-A6FA-E9CF-F4C1-558D68F48F1F}"/>
              </a:ext>
            </a:extLst>
          </p:cNvPr>
          <p:cNvSpPr txBox="1"/>
          <p:nvPr/>
        </p:nvSpPr>
        <p:spPr>
          <a:xfrm>
            <a:off x="563727" y="5794950"/>
            <a:ext cx="110642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dirty="0">
                <a:solidFill>
                  <a:srgbClr val="222222"/>
                </a:solidFill>
              </a:rPr>
              <a:t>•  La </a:t>
            </a:r>
            <a:r>
              <a:rPr sz="2000" dirty="0" err="1">
                <a:solidFill>
                  <a:srgbClr val="222222"/>
                </a:solidFill>
              </a:rPr>
              <a:t>oferta</a:t>
            </a:r>
            <a:r>
              <a:rPr sz="2000" dirty="0">
                <a:solidFill>
                  <a:srgbClr val="222222"/>
                </a:solidFill>
              </a:rPr>
              <a:t> </a:t>
            </a:r>
            <a:r>
              <a:rPr sz="2000" dirty="0" err="1">
                <a:solidFill>
                  <a:srgbClr val="222222"/>
                </a:solidFill>
              </a:rPr>
              <a:t>ganadora</a:t>
            </a:r>
            <a:r>
              <a:rPr sz="2000" dirty="0">
                <a:solidFill>
                  <a:srgbClr val="222222"/>
                </a:solidFill>
              </a:rPr>
              <a:t> = la </a:t>
            </a:r>
            <a:r>
              <a:rPr sz="2000" dirty="0" err="1">
                <a:solidFill>
                  <a:srgbClr val="222222"/>
                </a:solidFill>
              </a:rPr>
              <a:t>elegible</a:t>
            </a:r>
            <a:r>
              <a:rPr sz="2000" dirty="0">
                <a:solidFill>
                  <a:srgbClr val="222222"/>
                </a:solidFill>
              </a:rPr>
              <a:t> con mayor </a:t>
            </a:r>
            <a:r>
              <a:rPr lang="es-ES" sz="2000" dirty="0">
                <a:solidFill>
                  <a:srgbClr val="222222"/>
                </a:solidFill>
              </a:rPr>
              <a:t>rango</a:t>
            </a:r>
            <a:endParaRPr sz="2000" dirty="0">
              <a:solidFill>
                <a:srgbClr val="222222"/>
              </a:solidFill>
            </a:endParaRPr>
          </a:p>
        </p:txBody>
      </p:sp>
      <p:sp>
        <p:nvSpPr>
          <p:cNvPr id="11" name="Oval 10"/>
          <p:cNvSpPr/>
          <p:nvPr/>
        </p:nvSpPr>
        <p:spPr>
          <a:xfrm>
            <a:off x="10271760" y="625751"/>
            <a:ext cx="237744" cy="237744"/>
          </a:xfrm>
          <a:prstGeom prst="ellipse">
            <a:avLst/>
          </a:prstGeom>
          <a:solidFill>
            <a:srgbClr val="9CC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0838688" y="625751"/>
            <a:ext cx="237744" cy="237744"/>
          </a:xfrm>
          <a:prstGeom prst="ellipse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1405616" y="625751"/>
            <a:ext cx="237744" cy="237744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ight Arrow 13"/>
          <p:cNvSpPr/>
          <p:nvPr/>
        </p:nvSpPr>
        <p:spPr>
          <a:xfrm>
            <a:off x="10546080" y="680615"/>
            <a:ext cx="274320" cy="128016"/>
          </a:xfrm>
          <a:prstGeom prst="rightArrow">
            <a:avLst/>
          </a:prstGeom>
          <a:solidFill>
            <a:srgbClr val="8A8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ight Arrow 14"/>
          <p:cNvSpPr/>
          <p:nvPr/>
        </p:nvSpPr>
        <p:spPr>
          <a:xfrm>
            <a:off x="11113008" y="680615"/>
            <a:ext cx="274320" cy="128016"/>
          </a:xfrm>
          <a:prstGeom prst="rightArrow">
            <a:avLst/>
          </a:prstGeom>
          <a:solidFill>
            <a:srgbClr val="8A8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2E86C1"/>
                </a:solidFill>
              </a:rPr>
              <a:t>⭐ El valor del proyecto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43000"/>
            <a:ext cx="1280160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A5A"/>
                </a:solidFill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78638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22222"/>
                </a:solidFill>
              </a:rPr>
              <a:t>No está en la complejidad del motor (que es modesta)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1617" y="2053689"/>
            <a:ext cx="8147162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dirty="0" err="1">
                <a:solidFill>
                  <a:srgbClr val="222222"/>
                </a:solidFill>
              </a:rPr>
              <a:t>Está</a:t>
            </a:r>
            <a:r>
              <a:rPr sz="2000" dirty="0">
                <a:solidFill>
                  <a:srgbClr val="222222"/>
                </a:solidFill>
              </a:rPr>
              <a:t> </a:t>
            </a:r>
            <a:r>
              <a:rPr sz="2000" dirty="0" err="1">
                <a:solidFill>
                  <a:srgbClr val="222222"/>
                </a:solidFill>
              </a:rPr>
              <a:t>en</a:t>
            </a:r>
            <a:r>
              <a:rPr sz="2000" dirty="0">
                <a:solidFill>
                  <a:srgbClr val="222222"/>
                </a:solidFill>
              </a:rPr>
              <a:t>:</a:t>
            </a:r>
          </a:p>
          <a:p>
            <a:pPr marL="742950" lvl="1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sz="2000" dirty="0" err="1">
                <a:solidFill>
                  <a:srgbClr val="222222"/>
                </a:solidFill>
              </a:rPr>
              <a:t>Madurar</a:t>
            </a:r>
            <a:r>
              <a:rPr sz="2000" dirty="0">
                <a:solidFill>
                  <a:srgbClr val="222222"/>
                </a:solidFill>
              </a:rPr>
              <a:t> </a:t>
            </a:r>
            <a:r>
              <a:rPr sz="2000" dirty="0" err="1">
                <a:solidFill>
                  <a:srgbClr val="222222"/>
                </a:solidFill>
              </a:rPr>
              <a:t>una</a:t>
            </a:r>
            <a:r>
              <a:rPr sz="2000" dirty="0">
                <a:solidFill>
                  <a:srgbClr val="222222"/>
                </a:solidFill>
              </a:rPr>
              <a:t> idea de </a:t>
            </a:r>
            <a:r>
              <a:rPr sz="2000" dirty="0" err="1">
                <a:solidFill>
                  <a:srgbClr val="222222"/>
                </a:solidFill>
              </a:rPr>
              <a:t>negocio</a:t>
            </a:r>
            <a:r>
              <a:rPr sz="2000" dirty="0">
                <a:solidFill>
                  <a:srgbClr val="222222"/>
                </a:solidFill>
              </a:rPr>
              <a:t> hasta </a:t>
            </a:r>
            <a:r>
              <a:rPr sz="2000" dirty="0" err="1">
                <a:solidFill>
                  <a:srgbClr val="222222"/>
                </a:solidFill>
              </a:rPr>
              <a:t>una</a:t>
            </a:r>
            <a:r>
              <a:rPr sz="2000" dirty="0">
                <a:solidFill>
                  <a:srgbClr val="222222"/>
                </a:solidFill>
              </a:rPr>
              <a:t> </a:t>
            </a:r>
            <a:r>
              <a:rPr sz="2000" dirty="0" err="1">
                <a:solidFill>
                  <a:srgbClr val="222222"/>
                </a:solidFill>
              </a:rPr>
              <a:t>solución</a:t>
            </a:r>
            <a:r>
              <a:rPr sz="2000" dirty="0">
                <a:solidFill>
                  <a:srgbClr val="222222"/>
                </a:solidFill>
              </a:rPr>
              <a:t> completa y usable</a:t>
            </a:r>
            <a:endParaRPr lang="es-ES" sz="2000" dirty="0">
              <a:solidFill>
                <a:srgbClr val="222222"/>
              </a:solidFill>
            </a:endParaRPr>
          </a:p>
          <a:p>
            <a:pPr marL="742950" lvl="1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endParaRPr sz="2000" dirty="0">
              <a:solidFill>
                <a:srgbClr val="222222"/>
              </a:solidFill>
            </a:endParaRPr>
          </a:p>
          <a:p>
            <a:pPr marL="742950" lvl="1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sz="2000" dirty="0">
                <a:solidFill>
                  <a:srgbClr val="222222"/>
                </a:solidFill>
              </a:rPr>
              <a:t>Usar la IA </a:t>
            </a:r>
            <a:r>
              <a:rPr sz="2000" dirty="0" err="1">
                <a:solidFill>
                  <a:srgbClr val="222222"/>
                </a:solidFill>
              </a:rPr>
              <a:t>como</a:t>
            </a:r>
            <a:r>
              <a:rPr sz="2000" dirty="0">
                <a:solidFill>
                  <a:srgbClr val="222222"/>
                </a:solidFill>
              </a:rPr>
              <a:t> </a:t>
            </a:r>
            <a:r>
              <a:rPr sz="2000" dirty="0" err="1">
                <a:solidFill>
                  <a:srgbClr val="222222"/>
                </a:solidFill>
              </a:rPr>
              <a:t>herramienta</a:t>
            </a:r>
            <a:r>
              <a:rPr sz="2000" dirty="0">
                <a:solidFill>
                  <a:srgbClr val="222222"/>
                </a:solidFill>
              </a:rPr>
              <a:t> de </a:t>
            </a:r>
            <a:r>
              <a:rPr sz="2000" dirty="0" err="1">
                <a:solidFill>
                  <a:srgbClr val="222222"/>
                </a:solidFill>
              </a:rPr>
              <a:t>ingeniería</a:t>
            </a:r>
            <a:r>
              <a:rPr sz="2000" dirty="0">
                <a:solidFill>
                  <a:srgbClr val="222222"/>
                </a:solidFill>
              </a:rPr>
              <a:t> </a:t>
            </a:r>
            <a:r>
              <a:rPr sz="2000" dirty="0" err="1">
                <a:solidFill>
                  <a:srgbClr val="222222"/>
                </a:solidFill>
              </a:rPr>
              <a:t>en</a:t>
            </a:r>
            <a:r>
              <a:rPr sz="2000" dirty="0">
                <a:solidFill>
                  <a:srgbClr val="222222"/>
                </a:solidFill>
              </a:rPr>
              <a:t> </a:t>
            </a:r>
            <a:r>
              <a:rPr sz="2000" dirty="0" err="1">
                <a:solidFill>
                  <a:srgbClr val="222222"/>
                </a:solidFill>
              </a:rPr>
              <a:t>todo</a:t>
            </a:r>
            <a:r>
              <a:rPr sz="2000" dirty="0">
                <a:solidFill>
                  <a:srgbClr val="222222"/>
                </a:solidFill>
              </a:rPr>
              <a:t> el </a:t>
            </a:r>
            <a:r>
              <a:rPr sz="2000" dirty="0" err="1">
                <a:solidFill>
                  <a:srgbClr val="222222"/>
                </a:solidFill>
              </a:rPr>
              <a:t>ciclo</a:t>
            </a:r>
            <a:r>
              <a:rPr sz="2000" dirty="0">
                <a:solidFill>
                  <a:srgbClr val="222222"/>
                </a:solidFill>
              </a:rPr>
              <a:t> de </a:t>
            </a:r>
            <a:r>
              <a:rPr sz="2000" dirty="0" err="1">
                <a:solidFill>
                  <a:srgbClr val="222222"/>
                </a:solidFill>
              </a:rPr>
              <a:t>construcción</a:t>
            </a:r>
            <a:endParaRPr sz="2000" dirty="0">
              <a:solidFill>
                <a:srgbClr val="222222"/>
              </a:solidFill>
            </a:endParaRPr>
          </a:p>
        </p:txBody>
      </p:sp>
      <p:sp>
        <p:nvSpPr>
          <p:cNvPr id="8" name="Oval 7"/>
          <p:cNvSpPr/>
          <p:nvPr/>
        </p:nvSpPr>
        <p:spPr>
          <a:xfrm>
            <a:off x="4601145" y="5768252"/>
            <a:ext cx="274320" cy="274320"/>
          </a:xfrm>
          <a:prstGeom prst="ellipse">
            <a:avLst/>
          </a:prstGeom>
          <a:solidFill>
            <a:srgbClr val="9CC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5104065" y="5475644"/>
            <a:ext cx="566928" cy="566928"/>
          </a:xfrm>
          <a:prstGeom prst="ellipse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5606985" y="5128172"/>
            <a:ext cx="914400" cy="91440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Circular Arrow 10"/>
          <p:cNvSpPr/>
          <p:nvPr/>
        </p:nvSpPr>
        <p:spPr>
          <a:xfrm rot="2100000">
            <a:off x="5744145" y="4076612"/>
            <a:ext cx="1051560" cy="1051560"/>
          </a:xfrm>
          <a:prstGeom prst="circularArrow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2E86C1"/>
                </a:solidFill>
              </a:rPr>
              <a:t>⭐ Dónde está (y dónde NO) la IA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43000"/>
            <a:ext cx="1280160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A5A"/>
                </a:solidFill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78638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dirty="0">
                <a:solidFill>
                  <a:srgbClr val="222222"/>
                </a:solidFill>
              </a:rPr>
              <a:t>El motor NO </a:t>
            </a:r>
            <a:r>
              <a:rPr sz="2400" b="1" dirty="0" err="1">
                <a:solidFill>
                  <a:srgbClr val="222222"/>
                </a:solidFill>
              </a:rPr>
              <a:t>usa</a:t>
            </a:r>
            <a:r>
              <a:rPr sz="2400" b="1" dirty="0">
                <a:solidFill>
                  <a:srgbClr val="222222"/>
                </a:solidFill>
              </a:rPr>
              <a:t> </a:t>
            </a:r>
            <a:r>
              <a:rPr sz="2400" b="1" dirty="0" err="1">
                <a:solidFill>
                  <a:srgbClr val="222222"/>
                </a:solidFill>
              </a:rPr>
              <a:t>ningún</a:t>
            </a:r>
            <a:r>
              <a:rPr sz="2400" b="1" dirty="0">
                <a:solidFill>
                  <a:srgbClr val="222222"/>
                </a:solidFill>
              </a:rPr>
              <a:t> LLM </a:t>
            </a:r>
            <a:r>
              <a:rPr sz="2400" b="1" dirty="0" err="1">
                <a:solidFill>
                  <a:srgbClr val="222222"/>
                </a:solidFill>
              </a:rPr>
              <a:t>en</a:t>
            </a:r>
            <a:r>
              <a:rPr sz="2400" b="1" dirty="0">
                <a:solidFill>
                  <a:srgbClr val="222222"/>
                </a:solidFill>
              </a:rPr>
              <a:t> </a:t>
            </a:r>
            <a:r>
              <a:rPr sz="2400" b="1" dirty="0" err="1">
                <a:solidFill>
                  <a:srgbClr val="222222"/>
                </a:solidFill>
              </a:rPr>
              <a:t>tiempo</a:t>
            </a:r>
            <a:r>
              <a:rPr sz="2400" b="1" dirty="0">
                <a:solidFill>
                  <a:srgbClr val="222222"/>
                </a:solidFill>
              </a:rPr>
              <a:t> de </a:t>
            </a:r>
            <a:r>
              <a:rPr sz="2400" b="1" dirty="0" err="1">
                <a:solidFill>
                  <a:srgbClr val="222222"/>
                </a:solidFill>
              </a:rPr>
              <a:t>ejecución</a:t>
            </a:r>
            <a:endParaRPr sz="2400" b="1" dirty="0">
              <a:solidFill>
                <a:srgbClr val="222222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263192" y="2313337"/>
            <a:ext cx="786384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dirty="0">
                <a:solidFill>
                  <a:srgbClr val="222222"/>
                </a:solidFill>
              </a:rPr>
              <a:t>•  </a:t>
            </a:r>
            <a:r>
              <a:rPr sz="2000" dirty="0" err="1">
                <a:solidFill>
                  <a:srgbClr val="222222"/>
                </a:solidFill>
              </a:rPr>
              <a:t>Decisiones</a:t>
            </a:r>
            <a:r>
              <a:rPr sz="2000" dirty="0">
                <a:solidFill>
                  <a:srgbClr val="222222"/>
                </a:solidFill>
              </a:rPr>
              <a:t> </a:t>
            </a:r>
            <a:r>
              <a:rPr sz="2000" dirty="0" err="1">
                <a:solidFill>
                  <a:srgbClr val="222222"/>
                </a:solidFill>
              </a:rPr>
              <a:t>deterministas</a:t>
            </a:r>
            <a:r>
              <a:rPr sz="2000" dirty="0">
                <a:solidFill>
                  <a:srgbClr val="222222"/>
                </a:solidFill>
              </a:rPr>
              <a:t> y </a:t>
            </a:r>
            <a:r>
              <a:rPr sz="2000" dirty="0" err="1">
                <a:solidFill>
                  <a:srgbClr val="222222"/>
                </a:solidFill>
              </a:rPr>
              <a:t>reproducibles</a:t>
            </a:r>
            <a:r>
              <a:rPr sz="2000" dirty="0">
                <a:solidFill>
                  <a:srgbClr val="222222"/>
                </a:solidFill>
              </a:rPr>
              <a:t>: </a:t>
            </a:r>
            <a:r>
              <a:rPr sz="2000" dirty="0" err="1">
                <a:solidFill>
                  <a:srgbClr val="222222"/>
                </a:solidFill>
              </a:rPr>
              <a:t>lógica</a:t>
            </a:r>
            <a:r>
              <a:rPr sz="2000" dirty="0">
                <a:solidFill>
                  <a:srgbClr val="222222"/>
                </a:solidFill>
              </a:rPr>
              <a:t> DNF pura </a:t>
            </a:r>
            <a:r>
              <a:rPr sz="2000" dirty="0" err="1">
                <a:solidFill>
                  <a:srgbClr val="222222"/>
                </a:solidFill>
              </a:rPr>
              <a:t>sobre</a:t>
            </a:r>
            <a:r>
              <a:rPr sz="2000" dirty="0">
                <a:solidFill>
                  <a:srgbClr val="222222"/>
                </a:solidFill>
              </a:rPr>
              <a:t> JSON</a:t>
            </a:r>
            <a:endParaRPr lang="es-ES" sz="2000" dirty="0">
              <a:solidFill>
                <a:srgbClr val="222222"/>
              </a:solidFill>
            </a:endParaRPr>
          </a:p>
          <a:p>
            <a:pPr>
              <a:spcAft>
                <a:spcPts val="1200"/>
              </a:spcAft>
            </a:pPr>
            <a:endParaRPr sz="2000" dirty="0">
              <a:solidFill>
                <a:srgbClr val="222222"/>
              </a:solidFill>
            </a:endParaRPr>
          </a:p>
          <a:p>
            <a:pPr>
              <a:spcAft>
                <a:spcPts val="1200"/>
              </a:spcAft>
            </a:pPr>
            <a:r>
              <a:rPr sz="2000" dirty="0">
                <a:solidFill>
                  <a:srgbClr val="222222"/>
                </a:solidFill>
              </a:rPr>
              <a:t>•  No hay </a:t>
            </a:r>
            <a:r>
              <a:rPr sz="2000" dirty="0" err="1">
                <a:solidFill>
                  <a:srgbClr val="222222"/>
                </a:solidFill>
              </a:rPr>
              <a:t>consultas</a:t>
            </a:r>
            <a:r>
              <a:rPr sz="2000" dirty="0">
                <a:solidFill>
                  <a:srgbClr val="222222"/>
                </a:solidFill>
              </a:rPr>
              <a:t> a un </a:t>
            </a:r>
            <a:r>
              <a:rPr sz="2000" dirty="0" err="1">
                <a:solidFill>
                  <a:srgbClr val="222222"/>
                </a:solidFill>
              </a:rPr>
              <a:t>modelo</a:t>
            </a:r>
            <a:r>
              <a:rPr sz="2000" dirty="0">
                <a:solidFill>
                  <a:srgbClr val="222222"/>
                </a:solidFill>
              </a:rPr>
              <a:t> para </a:t>
            </a:r>
            <a:r>
              <a:rPr sz="2000" dirty="0" err="1">
                <a:solidFill>
                  <a:srgbClr val="222222"/>
                </a:solidFill>
              </a:rPr>
              <a:t>decidir</a:t>
            </a:r>
            <a:r>
              <a:rPr sz="2000" dirty="0">
                <a:solidFill>
                  <a:srgbClr val="222222"/>
                </a:solidFill>
              </a:rPr>
              <a:t> </a:t>
            </a:r>
            <a:r>
              <a:rPr sz="2000" dirty="0" err="1">
                <a:solidFill>
                  <a:srgbClr val="222222"/>
                </a:solidFill>
              </a:rPr>
              <a:t>qué</a:t>
            </a:r>
            <a:r>
              <a:rPr sz="2000" dirty="0">
                <a:solidFill>
                  <a:srgbClr val="222222"/>
                </a:solidFill>
              </a:rPr>
              <a:t> </a:t>
            </a:r>
            <a:r>
              <a:rPr sz="2000" dirty="0" err="1">
                <a:solidFill>
                  <a:srgbClr val="222222"/>
                </a:solidFill>
              </a:rPr>
              <a:t>oferta</a:t>
            </a:r>
            <a:r>
              <a:rPr sz="2000" dirty="0">
                <a:solidFill>
                  <a:srgbClr val="222222"/>
                </a:solidFill>
              </a:rPr>
              <a:t> </a:t>
            </a:r>
            <a:r>
              <a:rPr sz="2000" dirty="0" err="1">
                <a:solidFill>
                  <a:srgbClr val="222222"/>
                </a:solidFill>
              </a:rPr>
              <a:t>gana</a:t>
            </a:r>
            <a:endParaRPr lang="es-ES" sz="2000" dirty="0">
              <a:solidFill>
                <a:srgbClr val="222222"/>
              </a:solidFill>
            </a:endParaRPr>
          </a:p>
          <a:p>
            <a:pPr>
              <a:spcAft>
                <a:spcPts val="1200"/>
              </a:spcAft>
            </a:pPr>
            <a:endParaRPr sz="2000" dirty="0">
              <a:solidFill>
                <a:srgbClr val="222222"/>
              </a:solidFill>
            </a:endParaRPr>
          </a:p>
          <a:p>
            <a:pPr>
              <a:spcAft>
                <a:spcPts val="1200"/>
              </a:spcAft>
            </a:pPr>
            <a:r>
              <a:rPr sz="2000" dirty="0">
                <a:solidFill>
                  <a:srgbClr val="222222"/>
                </a:solidFill>
              </a:rPr>
              <a:t>•  La IA </a:t>
            </a:r>
            <a:r>
              <a:rPr sz="2000" dirty="0" err="1">
                <a:solidFill>
                  <a:srgbClr val="222222"/>
                </a:solidFill>
              </a:rPr>
              <a:t>construyó</a:t>
            </a:r>
            <a:r>
              <a:rPr sz="2000" dirty="0">
                <a:solidFill>
                  <a:srgbClr val="222222"/>
                </a:solidFill>
              </a:rPr>
              <a:t> y </a:t>
            </a:r>
            <a:r>
              <a:rPr sz="2000" dirty="0" err="1">
                <a:solidFill>
                  <a:srgbClr val="222222"/>
                </a:solidFill>
              </a:rPr>
              <a:t>probó</a:t>
            </a:r>
            <a:r>
              <a:rPr sz="2000" dirty="0">
                <a:solidFill>
                  <a:srgbClr val="222222"/>
                </a:solidFill>
              </a:rPr>
              <a:t> el </a:t>
            </a:r>
            <a:r>
              <a:rPr sz="2000" dirty="0" err="1">
                <a:solidFill>
                  <a:srgbClr val="222222"/>
                </a:solidFill>
              </a:rPr>
              <a:t>sistema</a:t>
            </a:r>
            <a:r>
              <a:rPr sz="2000" dirty="0">
                <a:solidFill>
                  <a:srgbClr val="222222"/>
                </a:solidFill>
              </a:rPr>
              <a:t>; el </a:t>
            </a:r>
            <a:r>
              <a:rPr sz="2000" dirty="0" err="1">
                <a:solidFill>
                  <a:srgbClr val="222222"/>
                </a:solidFill>
              </a:rPr>
              <a:t>sistema</a:t>
            </a:r>
            <a:r>
              <a:rPr sz="2000" dirty="0">
                <a:solidFill>
                  <a:srgbClr val="222222"/>
                </a:solidFill>
              </a:rPr>
              <a:t> </a:t>
            </a:r>
            <a:r>
              <a:rPr sz="2000" dirty="0" err="1">
                <a:solidFill>
                  <a:srgbClr val="222222"/>
                </a:solidFill>
              </a:rPr>
              <a:t>funciona</a:t>
            </a:r>
            <a:r>
              <a:rPr sz="2000" dirty="0">
                <a:solidFill>
                  <a:srgbClr val="222222"/>
                </a:solidFill>
              </a:rPr>
              <a:t> sin IA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B2A4A"/>
                </a:solidFill>
              </a:rPr>
              <a:t>Cómo usé la IA (el ciclo completo)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43000"/>
            <a:ext cx="1280160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A5A"/>
                </a:solidFill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78638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dirty="0">
                <a:solidFill>
                  <a:srgbClr val="222222"/>
                </a:solidFill>
              </a:rPr>
              <a:t>De la </a:t>
            </a:r>
            <a:r>
              <a:rPr sz="2400" b="1" dirty="0" err="1">
                <a:solidFill>
                  <a:srgbClr val="222222"/>
                </a:solidFill>
              </a:rPr>
              <a:t>documentación</a:t>
            </a:r>
            <a:r>
              <a:rPr sz="2400" b="1" dirty="0">
                <a:solidFill>
                  <a:srgbClr val="222222"/>
                </a:solidFill>
              </a:rPr>
              <a:t> al </a:t>
            </a:r>
            <a:r>
              <a:rPr sz="2400" b="1" dirty="0" err="1">
                <a:solidFill>
                  <a:srgbClr val="222222"/>
                </a:solidFill>
              </a:rPr>
              <a:t>código</a:t>
            </a:r>
            <a:r>
              <a:rPr sz="2400" b="1" dirty="0">
                <a:solidFill>
                  <a:srgbClr val="222222"/>
                </a:solidFill>
              </a:rPr>
              <a:t>, con IA </a:t>
            </a:r>
            <a:r>
              <a:rPr sz="2400" b="1" dirty="0" err="1">
                <a:solidFill>
                  <a:srgbClr val="222222"/>
                </a:solidFill>
              </a:rPr>
              <a:t>en</a:t>
            </a:r>
            <a:r>
              <a:rPr sz="2400" b="1" dirty="0">
                <a:solidFill>
                  <a:srgbClr val="222222"/>
                </a:solidFill>
              </a:rPr>
              <a:t> </a:t>
            </a:r>
            <a:r>
              <a:rPr sz="2400" b="1" dirty="0" err="1">
                <a:solidFill>
                  <a:srgbClr val="222222"/>
                </a:solidFill>
              </a:rPr>
              <a:t>cada</a:t>
            </a:r>
            <a:r>
              <a:rPr sz="2400" b="1" dirty="0">
                <a:solidFill>
                  <a:srgbClr val="222222"/>
                </a:solidFill>
              </a:rPr>
              <a:t> paso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107603"/>
            <a:ext cx="957669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2000" dirty="0">
                <a:solidFill>
                  <a:srgbClr val="222222"/>
                </a:solidFill>
              </a:rPr>
              <a:t>•  </a:t>
            </a:r>
            <a:r>
              <a:rPr sz="2000" dirty="0" err="1">
                <a:solidFill>
                  <a:srgbClr val="222222"/>
                </a:solidFill>
              </a:rPr>
              <a:t>Análisis</a:t>
            </a:r>
            <a:r>
              <a:rPr sz="2000" dirty="0">
                <a:solidFill>
                  <a:srgbClr val="222222"/>
                </a:solidFill>
              </a:rPr>
              <a:t> </a:t>
            </a:r>
            <a:r>
              <a:rPr sz="2000" dirty="0" err="1">
                <a:solidFill>
                  <a:srgbClr val="222222"/>
                </a:solidFill>
              </a:rPr>
              <a:t>funcional</a:t>
            </a:r>
            <a:r>
              <a:rPr sz="2000" dirty="0">
                <a:solidFill>
                  <a:srgbClr val="222222"/>
                </a:solidFill>
              </a:rPr>
              <a:t> de </a:t>
            </a:r>
            <a:r>
              <a:rPr sz="2000" dirty="0" err="1">
                <a:solidFill>
                  <a:srgbClr val="222222"/>
                </a:solidFill>
              </a:rPr>
              <a:t>los</a:t>
            </a:r>
            <a:r>
              <a:rPr sz="2000" dirty="0">
                <a:solidFill>
                  <a:srgbClr val="222222"/>
                </a:solidFill>
              </a:rPr>
              <a:t> </a:t>
            </a:r>
            <a:r>
              <a:rPr sz="2000" dirty="0" err="1">
                <a:solidFill>
                  <a:srgbClr val="222222"/>
                </a:solidFill>
              </a:rPr>
              <a:t>requisitos</a:t>
            </a:r>
            <a:r>
              <a:rPr sz="2000" dirty="0">
                <a:solidFill>
                  <a:srgbClr val="222222"/>
                </a:solidFill>
              </a:rPr>
              <a:t> a </a:t>
            </a:r>
            <a:r>
              <a:rPr sz="2000" dirty="0" err="1">
                <a:solidFill>
                  <a:srgbClr val="222222"/>
                </a:solidFill>
              </a:rPr>
              <a:t>partir</a:t>
            </a:r>
            <a:r>
              <a:rPr sz="2000" dirty="0">
                <a:solidFill>
                  <a:srgbClr val="222222"/>
                </a:solidFill>
              </a:rPr>
              <a:t> de la </a:t>
            </a:r>
            <a:r>
              <a:rPr sz="2000" dirty="0" err="1">
                <a:solidFill>
                  <a:srgbClr val="222222"/>
                </a:solidFill>
              </a:rPr>
              <a:t>documentación</a:t>
            </a:r>
            <a:r>
              <a:rPr sz="2000" dirty="0">
                <a:solidFill>
                  <a:srgbClr val="222222"/>
                </a:solidFill>
              </a:rPr>
              <a:t> de </a:t>
            </a:r>
            <a:r>
              <a:rPr sz="2000" dirty="0" err="1">
                <a:solidFill>
                  <a:srgbClr val="222222"/>
                </a:solidFill>
              </a:rPr>
              <a:t>negocio</a:t>
            </a:r>
            <a:endParaRPr lang="es-ES" sz="2000" dirty="0">
              <a:solidFill>
                <a:srgbClr val="222222"/>
              </a:solidFill>
            </a:endParaRPr>
          </a:p>
          <a:p>
            <a:pPr>
              <a:spcAft>
                <a:spcPts val="1800"/>
              </a:spcAft>
            </a:pPr>
            <a:r>
              <a:rPr sz="2000" dirty="0">
                <a:solidFill>
                  <a:srgbClr val="222222"/>
                </a:solidFill>
              </a:rPr>
              <a:t>•  </a:t>
            </a:r>
            <a:r>
              <a:rPr sz="2000" dirty="0" err="1">
                <a:solidFill>
                  <a:srgbClr val="222222"/>
                </a:solidFill>
              </a:rPr>
              <a:t>Diseño</a:t>
            </a:r>
            <a:r>
              <a:rPr sz="2000" dirty="0">
                <a:solidFill>
                  <a:srgbClr val="222222"/>
                </a:solidFill>
              </a:rPr>
              <a:t> del motor DNF, </a:t>
            </a:r>
            <a:r>
              <a:rPr sz="2000" dirty="0" err="1">
                <a:solidFill>
                  <a:srgbClr val="222222"/>
                </a:solidFill>
              </a:rPr>
              <a:t>su</a:t>
            </a:r>
            <a:r>
              <a:rPr sz="2000" dirty="0">
                <a:solidFill>
                  <a:srgbClr val="222222"/>
                </a:solidFill>
              </a:rPr>
              <a:t> </a:t>
            </a:r>
            <a:r>
              <a:rPr sz="2000" dirty="0" err="1">
                <a:solidFill>
                  <a:srgbClr val="222222"/>
                </a:solidFill>
              </a:rPr>
              <a:t>contrato</a:t>
            </a:r>
            <a:r>
              <a:rPr sz="2000" dirty="0">
                <a:solidFill>
                  <a:srgbClr val="222222"/>
                </a:solidFill>
              </a:rPr>
              <a:t> y </a:t>
            </a:r>
            <a:r>
              <a:rPr sz="2000" dirty="0" err="1">
                <a:solidFill>
                  <a:srgbClr val="222222"/>
                </a:solidFill>
              </a:rPr>
              <a:t>su</a:t>
            </a:r>
            <a:r>
              <a:rPr sz="2000" dirty="0">
                <a:solidFill>
                  <a:srgbClr val="222222"/>
                </a:solidFill>
              </a:rPr>
              <a:t> </a:t>
            </a:r>
            <a:r>
              <a:rPr sz="2000" dirty="0" err="1">
                <a:solidFill>
                  <a:srgbClr val="222222"/>
                </a:solidFill>
              </a:rPr>
              <a:t>modelo</a:t>
            </a:r>
            <a:r>
              <a:rPr sz="2000" dirty="0">
                <a:solidFill>
                  <a:srgbClr val="222222"/>
                </a:solidFill>
              </a:rPr>
              <a:t> de </a:t>
            </a:r>
            <a:r>
              <a:rPr sz="2000" dirty="0" err="1">
                <a:solidFill>
                  <a:srgbClr val="222222"/>
                </a:solidFill>
              </a:rPr>
              <a:t>datos</a:t>
            </a:r>
            <a:endParaRPr lang="es-ES" sz="2000" dirty="0">
              <a:solidFill>
                <a:srgbClr val="222222"/>
              </a:solidFill>
            </a:endParaRPr>
          </a:p>
          <a:p>
            <a:pPr>
              <a:spcAft>
                <a:spcPts val="1800"/>
              </a:spcAft>
            </a:pPr>
            <a:r>
              <a:rPr sz="2000" dirty="0">
                <a:solidFill>
                  <a:srgbClr val="222222"/>
                </a:solidFill>
              </a:rPr>
              <a:t>•  Generación de las </a:t>
            </a:r>
            <a:r>
              <a:rPr sz="2000" dirty="0" err="1">
                <a:solidFill>
                  <a:srgbClr val="222222"/>
                </a:solidFill>
              </a:rPr>
              <a:t>reglas</a:t>
            </a:r>
            <a:r>
              <a:rPr sz="2000" dirty="0">
                <a:solidFill>
                  <a:srgbClr val="222222"/>
                </a:solidFill>
              </a:rPr>
              <a:t> (`</a:t>
            </a:r>
            <a:r>
              <a:rPr sz="2000" dirty="0" err="1">
                <a:solidFill>
                  <a:srgbClr val="222222"/>
                </a:solidFill>
              </a:rPr>
              <a:t>rules.json</a:t>
            </a:r>
            <a:r>
              <a:rPr sz="2000" dirty="0">
                <a:solidFill>
                  <a:srgbClr val="222222"/>
                </a:solidFill>
              </a:rPr>
              <a:t>`) </a:t>
            </a:r>
            <a:r>
              <a:rPr sz="2000" dirty="0" err="1">
                <a:solidFill>
                  <a:srgbClr val="222222"/>
                </a:solidFill>
              </a:rPr>
              <a:t>traduciendo</a:t>
            </a:r>
            <a:r>
              <a:rPr sz="2000" dirty="0">
                <a:solidFill>
                  <a:srgbClr val="222222"/>
                </a:solidFill>
              </a:rPr>
              <a:t> el </a:t>
            </a:r>
            <a:r>
              <a:rPr sz="2000" dirty="0" err="1">
                <a:solidFill>
                  <a:srgbClr val="222222"/>
                </a:solidFill>
              </a:rPr>
              <a:t>documento</a:t>
            </a:r>
            <a:r>
              <a:rPr sz="2000" dirty="0">
                <a:solidFill>
                  <a:srgbClr val="222222"/>
                </a:solidFill>
              </a:rPr>
              <a:t> </a:t>
            </a:r>
            <a:r>
              <a:rPr sz="2000" dirty="0" err="1">
                <a:solidFill>
                  <a:srgbClr val="222222"/>
                </a:solidFill>
              </a:rPr>
              <a:t>funcional</a:t>
            </a:r>
            <a:endParaRPr lang="es-ES" sz="2000" dirty="0">
              <a:solidFill>
                <a:srgbClr val="222222"/>
              </a:solidFill>
            </a:endParaRPr>
          </a:p>
          <a:p>
            <a:pPr>
              <a:spcAft>
                <a:spcPts val="1800"/>
              </a:spcAft>
            </a:pPr>
            <a:r>
              <a:rPr sz="2000" dirty="0">
                <a:solidFill>
                  <a:srgbClr val="222222"/>
                </a:solidFill>
              </a:rPr>
              <a:t>•  </a:t>
            </a:r>
            <a:r>
              <a:rPr sz="2000" dirty="0" err="1">
                <a:solidFill>
                  <a:srgbClr val="222222"/>
                </a:solidFill>
              </a:rPr>
              <a:t>Construcción</a:t>
            </a:r>
            <a:r>
              <a:rPr sz="2000" dirty="0">
                <a:solidFill>
                  <a:srgbClr val="222222"/>
                </a:solidFill>
              </a:rPr>
              <a:t> del frontend de </a:t>
            </a:r>
            <a:r>
              <a:rPr sz="2000" dirty="0" err="1">
                <a:solidFill>
                  <a:srgbClr val="222222"/>
                </a:solidFill>
              </a:rPr>
              <a:t>configuración</a:t>
            </a:r>
            <a:r>
              <a:rPr sz="2000" dirty="0">
                <a:solidFill>
                  <a:srgbClr val="222222"/>
                </a:solidFill>
              </a:rPr>
              <a:t> (la </a:t>
            </a:r>
            <a:r>
              <a:rPr sz="2000" dirty="0" err="1">
                <a:solidFill>
                  <a:srgbClr val="222222"/>
                </a:solidFill>
              </a:rPr>
              <a:t>parte</a:t>
            </a:r>
            <a:r>
              <a:rPr sz="2000" dirty="0">
                <a:solidFill>
                  <a:srgbClr val="222222"/>
                </a:solidFill>
              </a:rPr>
              <a:t> </a:t>
            </a:r>
            <a:r>
              <a:rPr sz="2000" dirty="0" err="1">
                <a:solidFill>
                  <a:srgbClr val="222222"/>
                </a:solidFill>
              </a:rPr>
              <a:t>compleja</a:t>
            </a:r>
            <a:r>
              <a:rPr sz="2000" dirty="0">
                <a:solidFill>
                  <a:srgbClr val="222222"/>
                </a:solidFill>
              </a:rPr>
              <a:t>)</a:t>
            </a:r>
            <a:endParaRPr lang="es-ES" sz="2000" dirty="0">
              <a:solidFill>
                <a:srgbClr val="222222"/>
              </a:solidFill>
            </a:endParaRPr>
          </a:p>
          <a:p>
            <a:pPr>
              <a:spcAft>
                <a:spcPts val="1800"/>
              </a:spcAft>
            </a:pPr>
            <a:r>
              <a:rPr sz="2000" dirty="0">
                <a:solidFill>
                  <a:srgbClr val="222222"/>
                </a:solidFill>
              </a:rPr>
              <a:t>•  Generación de la </a:t>
            </a:r>
            <a:r>
              <a:rPr sz="2000" dirty="0" err="1">
                <a:solidFill>
                  <a:srgbClr val="222222"/>
                </a:solidFill>
              </a:rPr>
              <a:t>batería</a:t>
            </a:r>
            <a:r>
              <a:rPr sz="2000" dirty="0">
                <a:solidFill>
                  <a:srgbClr val="222222"/>
                </a:solidFill>
              </a:rPr>
              <a:t> de </a:t>
            </a:r>
            <a:r>
              <a:rPr sz="2000" dirty="0" err="1">
                <a:solidFill>
                  <a:srgbClr val="222222"/>
                </a:solidFill>
              </a:rPr>
              <a:t>pruebas</a:t>
            </a:r>
            <a:r>
              <a:rPr sz="2000" dirty="0">
                <a:solidFill>
                  <a:srgbClr val="222222"/>
                </a:solidFill>
              </a:rPr>
              <a:t> y del </a:t>
            </a:r>
            <a:r>
              <a:rPr sz="2000" dirty="0" err="1">
                <a:solidFill>
                  <a:srgbClr val="222222"/>
                </a:solidFill>
              </a:rPr>
              <a:t>modelo</a:t>
            </a:r>
            <a:r>
              <a:rPr sz="2000" dirty="0">
                <a:solidFill>
                  <a:srgbClr val="222222"/>
                </a:solidFill>
              </a:rPr>
              <a:t> de </a:t>
            </a:r>
            <a:r>
              <a:rPr sz="2000" dirty="0" err="1">
                <a:solidFill>
                  <a:srgbClr val="222222"/>
                </a:solidFill>
              </a:rPr>
              <a:t>evidencias</a:t>
            </a:r>
            <a:endParaRPr sz="2000" dirty="0">
              <a:solidFill>
                <a:srgbClr val="22222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B2A4A"/>
                </a:solidFill>
              </a:rPr>
              <a:t>SDD: incorporar funcionalidades con método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43000"/>
            <a:ext cx="1280160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A5A"/>
                </a:solidFill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78638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dirty="0">
                <a:solidFill>
                  <a:srgbClr val="222222"/>
                </a:solidFill>
              </a:rPr>
              <a:t>Spec-Driven Development, no "vibe-coding"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5083" y="2305615"/>
            <a:ext cx="10401527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lang="es-ES" sz="2000" dirty="0">
                <a:solidFill>
                  <a:srgbClr val="222222"/>
                </a:solidFill>
              </a:rPr>
              <a:t>• He usado el plugin de </a:t>
            </a:r>
            <a:r>
              <a:rPr lang="es-ES" sz="2000" dirty="0"/>
              <a:t>Alan Buscaglia que ha facilitado enormemente este modelo de desarrollo</a:t>
            </a:r>
          </a:p>
          <a:p>
            <a:pPr>
              <a:spcAft>
                <a:spcPts val="1800"/>
              </a:spcAft>
            </a:pPr>
            <a:r>
              <a:rPr sz="2000" dirty="0">
                <a:solidFill>
                  <a:srgbClr val="222222"/>
                </a:solidFill>
              </a:rPr>
              <a:t>•  Cada </a:t>
            </a:r>
            <a:r>
              <a:rPr sz="2000" dirty="0" err="1">
                <a:solidFill>
                  <a:srgbClr val="222222"/>
                </a:solidFill>
              </a:rPr>
              <a:t>cambio</a:t>
            </a:r>
            <a:r>
              <a:rPr sz="2000" dirty="0">
                <a:solidFill>
                  <a:srgbClr val="222222"/>
                </a:solidFill>
              </a:rPr>
              <a:t> </a:t>
            </a:r>
            <a:r>
              <a:rPr sz="2000" dirty="0" err="1">
                <a:solidFill>
                  <a:srgbClr val="222222"/>
                </a:solidFill>
              </a:rPr>
              <a:t>sigue</a:t>
            </a:r>
            <a:r>
              <a:rPr sz="2000" dirty="0">
                <a:solidFill>
                  <a:srgbClr val="222222"/>
                </a:solidFill>
              </a:rPr>
              <a:t>: explore → proposal → spec → design → tasks → apply → verify → archive</a:t>
            </a:r>
            <a:endParaRPr lang="es-ES" sz="2000" dirty="0">
              <a:solidFill>
                <a:srgbClr val="222222"/>
              </a:solidFill>
            </a:endParaRPr>
          </a:p>
          <a:p>
            <a:pPr>
              <a:spcAft>
                <a:spcPts val="1800"/>
              </a:spcAft>
            </a:pPr>
            <a:r>
              <a:rPr sz="2000" dirty="0">
                <a:solidFill>
                  <a:srgbClr val="222222"/>
                </a:solidFill>
              </a:rPr>
              <a:t>•  Specs </a:t>
            </a:r>
            <a:r>
              <a:rPr sz="2000" dirty="0" err="1">
                <a:solidFill>
                  <a:srgbClr val="222222"/>
                </a:solidFill>
              </a:rPr>
              <a:t>en</a:t>
            </a:r>
            <a:r>
              <a:rPr sz="2000" dirty="0">
                <a:solidFill>
                  <a:srgbClr val="222222"/>
                </a:solidFill>
              </a:rPr>
              <a:t> *Given/When/Then* + RFC 2119 · </a:t>
            </a:r>
            <a:r>
              <a:rPr sz="2000" dirty="0" err="1">
                <a:solidFill>
                  <a:srgbClr val="222222"/>
                </a:solidFill>
              </a:rPr>
              <a:t>implementación</a:t>
            </a:r>
            <a:r>
              <a:rPr sz="2000" dirty="0">
                <a:solidFill>
                  <a:srgbClr val="222222"/>
                </a:solidFill>
              </a:rPr>
              <a:t> </a:t>
            </a:r>
            <a:r>
              <a:rPr sz="2000" dirty="0" err="1">
                <a:solidFill>
                  <a:srgbClr val="222222"/>
                </a:solidFill>
              </a:rPr>
              <a:t>en</a:t>
            </a:r>
            <a:r>
              <a:rPr sz="2000" dirty="0">
                <a:solidFill>
                  <a:srgbClr val="222222"/>
                </a:solidFill>
              </a:rPr>
              <a:t> TDD </a:t>
            </a:r>
            <a:r>
              <a:rPr sz="2000" dirty="0" err="1">
                <a:solidFill>
                  <a:srgbClr val="222222"/>
                </a:solidFill>
              </a:rPr>
              <a:t>estricto</a:t>
            </a:r>
            <a:endParaRPr lang="es-ES" sz="2000" dirty="0">
              <a:solidFill>
                <a:srgbClr val="222222"/>
              </a:solidFill>
            </a:endParaRPr>
          </a:p>
          <a:p>
            <a:pPr>
              <a:spcAft>
                <a:spcPts val="1800"/>
              </a:spcAft>
            </a:pPr>
            <a:r>
              <a:rPr sz="2000" dirty="0">
                <a:solidFill>
                  <a:srgbClr val="222222"/>
                </a:solidFill>
              </a:rPr>
              <a:t>•  Todo el </a:t>
            </a:r>
            <a:r>
              <a:rPr sz="2000" dirty="0" err="1">
                <a:solidFill>
                  <a:srgbClr val="222222"/>
                </a:solidFill>
              </a:rPr>
              <a:t>rastro</a:t>
            </a:r>
            <a:r>
              <a:rPr sz="2000" dirty="0">
                <a:solidFill>
                  <a:srgbClr val="222222"/>
                </a:solidFill>
              </a:rPr>
              <a:t> </a:t>
            </a:r>
            <a:r>
              <a:rPr sz="2000" dirty="0" err="1">
                <a:solidFill>
                  <a:srgbClr val="222222"/>
                </a:solidFill>
              </a:rPr>
              <a:t>versionado</a:t>
            </a:r>
            <a:r>
              <a:rPr sz="2000" dirty="0">
                <a:solidFill>
                  <a:srgbClr val="222222"/>
                </a:solidFill>
              </a:rPr>
              <a:t> </a:t>
            </a:r>
            <a:r>
              <a:rPr sz="2000" dirty="0" err="1">
                <a:solidFill>
                  <a:srgbClr val="222222"/>
                </a:solidFill>
              </a:rPr>
              <a:t>en</a:t>
            </a:r>
            <a:r>
              <a:rPr sz="2000" dirty="0">
                <a:solidFill>
                  <a:srgbClr val="222222"/>
                </a:solidFill>
              </a:rPr>
              <a:t> `</a:t>
            </a:r>
            <a:r>
              <a:rPr sz="2000" dirty="0" err="1">
                <a:solidFill>
                  <a:srgbClr val="222222"/>
                </a:solidFill>
              </a:rPr>
              <a:t>openspec</a:t>
            </a:r>
            <a:r>
              <a:rPr sz="2000" dirty="0">
                <a:solidFill>
                  <a:srgbClr val="222222"/>
                </a:solidFill>
              </a:rPr>
              <a:t>/` · 15 </a:t>
            </a:r>
            <a:r>
              <a:rPr sz="2000" dirty="0" err="1">
                <a:solidFill>
                  <a:srgbClr val="222222"/>
                </a:solidFill>
              </a:rPr>
              <a:t>cambios</a:t>
            </a:r>
            <a:r>
              <a:rPr sz="2000" dirty="0">
                <a:solidFill>
                  <a:srgbClr val="222222"/>
                </a:solidFill>
              </a:rPr>
              <a:t> </a:t>
            </a:r>
            <a:r>
              <a:rPr sz="2000" dirty="0" err="1">
                <a:solidFill>
                  <a:srgbClr val="222222"/>
                </a:solidFill>
              </a:rPr>
              <a:t>completados</a:t>
            </a:r>
            <a:r>
              <a:rPr sz="2000" dirty="0">
                <a:solidFill>
                  <a:srgbClr val="222222"/>
                </a:solidFill>
              </a:rPr>
              <a:t> de extremo a extremo</a:t>
            </a:r>
            <a:endParaRPr lang="es-ES" sz="2000" dirty="0">
              <a:solidFill>
                <a:srgbClr val="222222"/>
              </a:solidFill>
            </a:endParaRPr>
          </a:p>
          <a:p>
            <a:pPr>
              <a:spcAft>
                <a:spcPts val="1800"/>
              </a:spcAft>
            </a:pPr>
            <a:r>
              <a:rPr sz="2000" dirty="0">
                <a:solidFill>
                  <a:srgbClr val="222222"/>
                </a:solidFill>
              </a:rPr>
              <a:t>•  La IA </a:t>
            </a:r>
            <a:r>
              <a:rPr sz="2000" dirty="0" err="1">
                <a:solidFill>
                  <a:srgbClr val="222222"/>
                </a:solidFill>
              </a:rPr>
              <a:t>ejecuta</a:t>
            </a:r>
            <a:r>
              <a:rPr sz="2000" dirty="0">
                <a:solidFill>
                  <a:srgbClr val="222222"/>
                </a:solidFill>
              </a:rPr>
              <a:t> el </a:t>
            </a:r>
            <a:r>
              <a:rPr sz="2000" dirty="0" err="1">
                <a:solidFill>
                  <a:srgbClr val="222222"/>
                </a:solidFill>
              </a:rPr>
              <a:t>flujo</a:t>
            </a:r>
            <a:r>
              <a:rPr sz="2000" dirty="0">
                <a:solidFill>
                  <a:srgbClr val="222222"/>
                </a:solidFill>
              </a:rPr>
              <a:t>; el </a:t>
            </a:r>
            <a:r>
              <a:rPr sz="2000" dirty="0" err="1">
                <a:solidFill>
                  <a:srgbClr val="222222"/>
                </a:solidFill>
              </a:rPr>
              <a:t>criterio</a:t>
            </a:r>
            <a:r>
              <a:rPr sz="2000" dirty="0">
                <a:solidFill>
                  <a:srgbClr val="222222"/>
                </a:solidFill>
              </a:rPr>
              <a:t> de </a:t>
            </a:r>
            <a:r>
              <a:rPr sz="2000" dirty="0" err="1">
                <a:solidFill>
                  <a:srgbClr val="222222"/>
                </a:solidFill>
              </a:rPr>
              <a:t>ingeniería</a:t>
            </a:r>
            <a:r>
              <a:rPr sz="2000" dirty="0">
                <a:solidFill>
                  <a:srgbClr val="222222"/>
                </a:solidFill>
              </a:rPr>
              <a:t> </a:t>
            </a:r>
            <a:r>
              <a:rPr sz="2000" dirty="0" err="1">
                <a:solidFill>
                  <a:srgbClr val="222222"/>
                </a:solidFill>
              </a:rPr>
              <a:t>queda</a:t>
            </a:r>
            <a:r>
              <a:rPr sz="2000" dirty="0">
                <a:solidFill>
                  <a:srgbClr val="222222"/>
                </a:solidFill>
              </a:rPr>
              <a:t> </a:t>
            </a:r>
            <a:r>
              <a:rPr sz="2000" dirty="0" err="1">
                <a:solidFill>
                  <a:srgbClr val="222222"/>
                </a:solidFill>
              </a:rPr>
              <a:t>explícito</a:t>
            </a:r>
            <a:r>
              <a:rPr sz="2000" dirty="0">
                <a:solidFill>
                  <a:srgbClr val="222222"/>
                </a:solidFill>
              </a:rPr>
              <a:t> y auditable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902932" y="2030881"/>
            <a:ext cx="2468880" cy="0"/>
          </a:xfrm>
          <a:prstGeom prst="line">
            <a:avLst/>
          </a:prstGeom>
          <a:ln w="15875">
            <a:solidFill>
              <a:srgbClr val="8A8F9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3898219" y="1962301"/>
            <a:ext cx="137160" cy="137160"/>
          </a:xfrm>
          <a:prstGeom prst="ellipse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4250916" y="1962301"/>
            <a:ext cx="137160" cy="137160"/>
          </a:xfrm>
          <a:prstGeom prst="ellipse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603613" y="1962301"/>
            <a:ext cx="137160" cy="137160"/>
          </a:xfrm>
          <a:prstGeom prst="ellipse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956310" y="1962301"/>
            <a:ext cx="137160" cy="137160"/>
          </a:xfrm>
          <a:prstGeom prst="ellipse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5309007" y="1962301"/>
            <a:ext cx="137160" cy="137160"/>
          </a:xfrm>
          <a:prstGeom prst="ellipse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5661704" y="1962301"/>
            <a:ext cx="137160" cy="137160"/>
          </a:xfrm>
          <a:prstGeom prst="ellipse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014401" y="1962301"/>
            <a:ext cx="137160" cy="137160"/>
          </a:xfrm>
          <a:prstGeom prst="ellipse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335095" y="1930297"/>
            <a:ext cx="201168" cy="20116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2E86C1"/>
                </a:solidFill>
              </a:rPr>
              <a:t>🔒 La seguridad como parte del proceso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43000"/>
            <a:ext cx="1280160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A5A"/>
                </a:solidFill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78638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dirty="0">
                <a:solidFill>
                  <a:srgbClr val="222222"/>
                </a:solidFill>
              </a:rPr>
              <a:t>Auditoría OWASP Top 10 (2021) y corrección vía SDD, no como añadido de última hora</a:t>
            </a:r>
            <a:r>
              <a:rPr sz="2400" b="1" dirty="0" err="1">
                <a:solidFill>
                  <a:srgbClr val="222222"/>
                </a:solidFill>
              </a:rPr>
              <a:t/>
            </a:r>
            <a:r>
              <a:rPr sz="2400" b="1" dirty="0">
                <a:solidFill>
                  <a:srgbClr val="222222"/>
                </a:solidFill>
              </a:rPr>
              <a:t/>
            </a:r>
            <a:r>
              <a:rPr sz="2400" b="1" dirty="0" err="1">
                <a:solidFill>
                  <a:srgbClr val="222222"/>
                </a:solidFill>
              </a:rPr>
              <a:t/>
            </a:r>
            <a:r>
              <a:rPr sz="2400" b="1" dirty="0">
                <a:solidFill>
                  <a:srgbClr val="222222"/>
                </a:solidFill>
              </a:rPr>
              <a:t/>
            </a:r>
            <a:r>
              <a:rPr sz="2400" b="1" dirty="0" err="1">
                <a:solidFill>
                  <a:srgbClr val="222222"/>
                </a:solidFill>
              </a:rPr>
              <a:t/>
            </a:r>
            <a:r>
              <a:rPr sz="2400" b="1" dirty="0">
                <a:solidFill>
                  <a:srgbClr val="222222"/>
                </a:solidFill>
              </a:rPr>
              <a:t/>
            </a:r>
            <a:r>
              <a:rPr sz="2400" b="1" dirty="0" err="1">
                <a:solidFill>
                  <a:srgbClr val="222222"/>
                </a:solidFill>
              </a:rPr>
              <a:t/>
            </a:r>
            <a:r>
              <a:rPr sz="2400" b="1" dirty="0">
                <a:solidFill>
                  <a:srgbClr val="222222"/>
                </a:solidFill>
              </a:rPr>
              <a:t/>
            </a:r>
            <a:r>
              <a:rPr sz="2400" b="1" dirty="0" err="1">
                <a:solidFill>
                  <a:srgbClr val="222222"/>
                </a:solidFill>
              </a:rPr>
              <a:t/>
            </a:r>
            <a:endParaRPr sz="2400" b="1" dirty="0">
              <a:solidFill>
                <a:srgbClr val="222222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263192" y="2313337"/>
            <a:ext cx="786384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dirty="0">
                <a:solidFill>
                  <a:srgbClr val="222222"/>
                </a:solidFill>
              </a:rPr>
              <a:t>•  Auditoría OWASP Top 10: 16 hallazgos catalogados por severidad, 2 críticos (RBAC, reemplazo de configuración)</a:t>
            </a:r>
            <a:r>
              <a:rPr sz="2000" dirty="0" err="1">
                <a:solidFill>
                  <a:srgbClr val="222222"/>
                </a:solidFill>
              </a:rPr>
              <a:t/>
            </a:r>
            <a:r>
              <a:rPr sz="2000" dirty="0">
                <a:solidFill>
                  <a:srgbClr val="222222"/>
                </a:solidFill>
              </a:rPr>
              <a:t/>
            </a:r>
            <a:r>
              <a:rPr sz="2000" dirty="0" err="1">
                <a:solidFill>
                  <a:srgbClr val="222222"/>
                </a:solidFill>
              </a:rPr>
              <a:t/>
            </a:r>
            <a:r>
              <a:rPr sz="2000" dirty="0">
                <a:solidFill>
                  <a:srgbClr val="222222"/>
                </a:solidFill>
              </a:rPr>
              <a:t/>
            </a:r>
            <a:r>
              <a:rPr sz="2000" dirty="0" err="1">
                <a:solidFill>
                  <a:srgbClr val="222222"/>
                </a:solidFill>
              </a:rPr>
              <a:t/>
            </a:r>
            <a:r>
              <a:rPr sz="2000" dirty="0">
                <a:solidFill>
                  <a:srgbClr val="222222"/>
                </a:solidFill>
              </a:rPr>
              <a:t/>
            </a:r>
            <a:r>
              <a:rPr sz="2000" dirty="0" err="1">
                <a:solidFill>
                  <a:srgbClr val="222222"/>
                </a:solidFill>
              </a:rPr>
              <a:t/>
            </a:r>
            <a:r>
              <a:rPr sz="2000" dirty="0">
                <a:solidFill>
                  <a:srgbClr val="222222"/>
                </a:solidFill>
              </a:rPr>
              <a:t/>
            </a:r>
            <a:r>
              <a:rPr sz="2000" dirty="0" err="1">
                <a:solidFill>
                  <a:srgbClr val="222222"/>
                </a:solidFill>
              </a:rPr>
              <a:t/>
            </a:r>
            <a:r>
              <a:rPr sz="2000" dirty="0">
                <a:solidFill>
                  <a:srgbClr val="222222"/>
                </a:solidFill>
              </a:rPr>
              <a:t/>
            </a:r>
            <a:endParaRPr lang="es-ES" sz="2000" dirty="0">
              <a:solidFill>
                <a:srgbClr val="222222"/>
              </a:solidFill>
            </a:endParaRPr>
          </a:p>
          <a:p>
            <a:pPr>
              <a:spcAft>
                <a:spcPts val="1200"/>
              </a:spcAft>
            </a:pPr>
            <a:endParaRPr sz="2000" dirty="0">
              <a:solidFill>
                <a:srgbClr val="222222"/>
              </a:solidFill>
            </a:endParaRPr>
          </a:p>
          <a:p>
            <a:pPr>
              <a:spcAft>
                <a:spcPts val="1200"/>
              </a:spcAft>
            </a:pPr>
            <a:r>
              <a:rPr sz="2000" dirty="0">
                <a:solidFill>
                  <a:srgbClr val="222222"/>
                </a:solidFill>
              </a:rPr>
              <a:t>•  RBAC efectivo + salvaguarda de apply (confirmReplaceAll y preview) + checksum HMAC en snapshots</a:t>
            </a:r>
            <a:r>
              <a:rPr sz="2000" dirty="0" err="1">
                <a:solidFill>
                  <a:srgbClr val="222222"/>
                </a:solidFill>
              </a:rPr>
              <a:t/>
            </a:r>
            <a:r>
              <a:rPr sz="2000" dirty="0">
                <a:solidFill>
                  <a:srgbClr val="222222"/>
                </a:solidFill>
              </a:rPr>
              <a:t/>
            </a:r>
            <a:r>
              <a:rPr sz="2000" dirty="0" err="1">
                <a:solidFill>
                  <a:srgbClr val="222222"/>
                </a:solidFill>
              </a:rPr>
              <a:t/>
            </a:r>
            <a:r>
              <a:rPr sz="2000" dirty="0">
                <a:solidFill>
                  <a:srgbClr val="222222"/>
                </a:solidFill>
              </a:rPr>
              <a:t/>
            </a:r>
            <a:r>
              <a:rPr sz="2000" dirty="0" err="1">
                <a:solidFill>
                  <a:srgbClr val="222222"/>
                </a:solidFill>
              </a:rPr>
              <a:t/>
            </a:r>
            <a:r>
              <a:rPr sz="2000" dirty="0">
                <a:solidFill>
                  <a:srgbClr val="222222"/>
                </a:solidFill>
              </a:rPr>
              <a:t/>
            </a:r>
            <a:r>
              <a:rPr sz="2000" dirty="0" err="1">
                <a:solidFill>
                  <a:srgbClr val="222222"/>
                </a:solidFill>
              </a:rPr>
              <a:t/>
            </a:r>
            <a:r>
              <a:rPr sz="2000" dirty="0">
                <a:solidFill>
                  <a:srgbClr val="222222"/>
                </a:solidFill>
              </a:rPr>
              <a:t/>
            </a:r>
            <a:r>
              <a:rPr sz="2000" dirty="0" err="1">
                <a:solidFill>
                  <a:srgbClr val="222222"/>
                </a:solidFill>
              </a:rPr>
              <a:t/>
            </a:r>
            <a:r>
              <a:rPr sz="2000" dirty="0">
                <a:solidFill>
                  <a:srgbClr val="222222"/>
                </a:solidFill>
              </a:rPr>
              <a:t/>
            </a:r>
            <a:r>
              <a:rPr sz="2000" dirty="0" err="1">
                <a:solidFill>
                  <a:srgbClr val="222222"/>
                </a:solidFill>
              </a:rPr>
              <a:t/>
            </a:r>
            <a:endParaRPr lang="es-ES" sz="2000" dirty="0">
              <a:solidFill>
                <a:srgbClr val="222222"/>
              </a:solidFill>
            </a:endParaRPr>
          </a:p>
          <a:p>
            <a:pPr>
              <a:spcAft>
                <a:spcPts val="1200"/>
              </a:spcAft>
            </a:pPr>
            <a:endParaRPr sz="2000" dirty="0">
              <a:solidFill>
                <a:srgbClr val="222222"/>
              </a:solidFill>
            </a:endParaRPr>
          </a:p>
          <a:p>
            <a:pPr>
              <a:spcAft>
                <a:spcPts val="1200"/>
              </a:spcAft>
            </a:pPr>
            <a:r>
              <a:rPr sz="2000" dirty="0">
                <a:solidFill>
                  <a:srgbClr val="222222"/>
                </a:solidFill>
              </a:rPr>
              <a:t>•  Mismo flujo SDD (TDD estricto) y verificación independiente antes de archivar: PASS, 0 críticos</a:t>
            </a:r>
            <a:r>
              <a:rPr sz="2000" dirty="0" err="1">
                <a:solidFill>
                  <a:srgbClr val="222222"/>
                </a:solidFill>
              </a:rPr>
              <a:t/>
            </a:r>
            <a:r>
              <a:rPr sz="2000" dirty="0">
                <a:solidFill>
                  <a:srgbClr val="222222"/>
                </a:solidFill>
              </a:rPr>
              <a:t/>
            </a:r>
            <a:r>
              <a:rPr sz="2000" dirty="0" err="1">
                <a:solidFill>
                  <a:srgbClr val="222222"/>
                </a:solidFill>
              </a:rPr>
              <a:t/>
            </a:r>
            <a:r>
              <a:rPr sz="2000" dirty="0">
                <a:solidFill>
                  <a:srgbClr val="222222"/>
                </a:solidFill>
              </a:rPr>
              <a:t/>
            </a:r>
            <a:r>
              <a:rPr sz="2000" dirty="0" err="1">
                <a:solidFill>
                  <a:srgbClr val="222222"/>
                </a:solidFill>
              </a:rPr>
              <a:t/>
            </a:r>
            <a:r>
              <a:rPr sz="2000" dirty="0">
                <a:solidFill>
                  <a:srgbClr val="222222"/>
                </a:solidFill>
              </a:rPr>
              <a:t/>
            </a:r>
            <a:r>
              <a:rPr sz="2000" dirty="0" err="1">
                <a:solidFill>
                  <a:srgbClr val="222222"/>
                </a:solidFill>
              </a:rPr>
              <a:t/>
            </a:r>
            <a:r>
              <a:rPr sz="2000" dirty="0">
                <a:solidFill>
                  <a:srgbClr val="222222"/>
                </a:solidFill>
              </a:rPr>
              <a:t/>
            </a:r>
            <a:r>
              <a:rPr sz="2000" dirty="0" err="1">
                <a:solidFill>
                  <a:srgbClr val="222222"/>
                </a:solidFill>
              </a:rPr>
              <a:t/>
            </a:r>
            <a:r>
              <a:rPr sz="2000" dirty="0">
                <a:solidFill>
                  <a:srgbClr val="222222"/>
                </a:solidFill>
              </a:rPr>
              <a:t/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B2A4A"/>
                </a:solidFill>
              </a:rPr>
              <a:t>El patrón de inversión (lo no-obvio)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43000"/>
            <a:ext cx="1280160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A5A"/>
                </a:solidFill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78638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dirty="0">
                <a:solidFill>
                  <a:srgbClr val="222222"/>
                </a:solidFill>
              </a:rPr>
              <a:t>Las </a:t>
            </a:r>
            <a:r>
              <a:rPr sz="2400" b="1" dirty="0" err="1">
                <a:solidFill>
                  <a:srgbClr val="222222"/>
                </a:solidFill>
              </a:rPr>
              <a:t>reglas</a:t>
            </a:r>
            <a:r>
              <a:rPr sz="2400" b="1" dirty="0">
                <a:solidFill>
                  <a:srgbClr val="222222"/>
                </a:solidFill>
              </a:rPr>
              <a:t> son </a:t>
            </a:r>
            <a:r>
              <a:rPr sz="2400" b="1" i="1" dirty="0" err="1">
                <a:solidFill>
                  <a:srgbClr val="222222"/>
                </a:solidFill>
              </a:rPr>
              <a:t>detectores</a:t>
            </a:r>
            <a:r>
              <a:rPr sz="2400" b="1" i="1" dirty="0">
                <a:solidFill>
                  <a:srgbClr val="222222"/>
                </a:solidFill>
              </a:rPr>
              <a:t> de </a:t>
            </a:r>
            <a:r>
              <a:rPr sz="2400" b="1" i="1" dirty="0" err="1">
                <a:solidFill>
                  <a:srgbClr val="222222"/>
                </a:solidFill>
              </a:rPr>
              <a:t>rechazo</a:t>
            </a:r>
            <a:r>
              <a:rPr sz="2400" b="1" dirty="0">
                <a:solidFill>
                  <a:srgbClr val="222222"/>
                </a:solidFill>
              </a:rPr>
              <a:t>, no de </a:t>
            </a:r>
            <a:r>
              <a:rPr sz="2400" b="1" i="1" dirty="0" err="1">
                <a:solidFill>
                  <a:srgbClr val="222222"/>
                </a:solidFill>
              </a:rPr>
              <a:t>elegibilidad</a:t>
            </a:r>
            <a:endParaRPr sz="2400" b="1" i="1" dirty="0">
              <a:solidFill>
                <a:srgbClr val="222222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88720" y="2148840"/>
            <a:ext cx="9283517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dirty="0">
                <a:solidFill>
                  <a:srgbClr val="222222"/>
                </a:solidFill>
              </a:rPr>
              <a:t>•  </a:t>
            </a:r>
            <a:r>
              <a:rPr sz="2000" dirty="0" err="1">
                <a:solidFill>
                  <a:srgbClr val="222222"/>
                </a:solidFill>
              </a:rPr>
              <a:t>Condición</a:t>
            </a:r>
            <a:r>
              <a:rPr sz="2000" dirty="0">
                <a:solidFill>
                  <a:srgbClr val="222222"/>
                </a:solidFill>
              </a:rPr>
              <a:t> </a:t>
            </a:r>
            <a:r>
              <a:rPr sz="2000" dirty="0" err="1">
                <a:solidFill>
                  <a:srgbClr val="222222"/>
                </a:solidFill>
              </a:rPr>
              <a:t>positiva</a:t>
            </a:r>
            <a:r>
              <a:rPr sz="2000" dirty="0">
                <a:solidFill>
                  <a:srgbClr val="222222"/>
                </a:solidFill>
              </a:rPr>
              <a:t> del </a:t>
            </a:r>
            <a:r>
              <a:rPr sz="2000" dirty="0" err="1">
                <a:solidFill>
                  <a:srgbClr val="222222"/>
                </a:solidFill>
              </a:rPr>
              <a:t>documento</a:t>
            </a:r>
            <a:r>
              <a:rPr sz="2000" dirty="0">
                <a:solidFill>
                  <a:srgbClr val="222222"/>
                </a:solidFill>
              </a:rPr>
              <a:t> → se </a:t>
            </a:r>
            <a:r>
              <a:rPr sz="2000" dirty="0" err="1">
                <a:solidFill>
                  <a:srgbClr val="222222"/>
                </a:solidFill>
              </a:rPr>
              <a:t>niega</a:t>
            </a:r>
            <a:r>
              <a:rPr sz="2000" dirty="0">
                <a:solidFill>
                  <a:srgbClr val="222222"/>
                </a:solidFill>
              </a:rPr>
              <a:t> (</a:t>
            </a:r>
            <a:r>
              <a:rPr sz="2000" dirty="0" err="1">
                <a:solidFill>
                  <a:srgbClr val="222222"/>
                </a:solidFill>
              </a:rPr>
              <a:t>leyes</a:t>
            </a:r>
            <a:r>
              <a:rPr sz="2000" dirty="0">
                <a:solidFill>
                  <a:srgbClr val="222222"/>
                </a:solidFill>
              </a:rPr>
              <a:t> de </a:t>
            </a:r>
            <a:r>
              <a:rPr sz="2000" dirty="0" err="1">
                <a:solidFill>
                  <a:srgbClr val="222222"/>
                </a:solidFill>
              </a:rPr>
              <a:t>De</a:t>
            </a:r>
            <a:r>
              <a:rPr sz="2000" dirty="0">
                <a:solidFill>
                  <a:srgbClr val="222222"/>
                </a:solidFill>
              </a:rPr>
              <a:t> Morgan) antes de </a:t>
            </a:r>
            <a:r>
              <a:rPr sz="2000" dirty="0" err="1">
                <a:solidFill>
                  <a:srgbClr val="222222"/>
                </a:solidFill>
              </a:rPr>
              <a:t>codificarla</a:t>
            </a:r>
            <a:endParaRPr lang="es-ES" sz="2000" dirty="0">
              <a:solidFill>
                <a:srgbClr val="222222"/>
              </a:solidFill>
            </a:endParaRPr>
          </a:p>
          <a:p>
            <a:pPr>
              <a:spcAft>
                <a:spcPts val="1200"/>
              </a:spcAft>
            </a:pPr>
            <a:endParaRPr sz="2000" dirty="0">
              <a:solidFill>
                <a:srgbClr val="222222"/>
              </a:solidFill>
            </a:endParaRPr>
          </a:p>
          <a:p>
            <a:pPr>
              <a:spcAft>
                <a:spcPts val="1200"/>
              </a:spcAft>
            </a:pPr>
            <a:r>
              <a:rPr sz="2000" dirty="0">
                <a:solidFill>
                  <a:srgbClr val="222222"/>
                </a:solidFill>
              </a:rPr>
              <a:t>•  `NOT (A AND B)` → `(NOT A) OR (NOT B)` → un </a:t>
            </a:r>
            <a:r>
              <a:rPr sz="2000" dirty="0" err="1">
                <a:solidFill>
                  <a:srgbClr val="222222"/>
                </a:solidFill>
              </a:rPr>
              <a:t>grupo</a:t>
            </a:r>
            <a:r>
              <a:rPr sz="2000" dirty="0">
                <a:solidFill>
                  <a:srgbClr val="222222"/>
                </a:solidFill>
              </a:rPr>
              <a:t> </a:t>
            </a:r>
            <a:r>
              <a:rPr sz="2000" dirty="0" err="1">
                <a:solidFill>
                  <a:srgbClr val="222222"/>
                </a:solidFill>
              </a:rPr>
              <a:t>por</a:t>
            </a:r>
            <a:r>
              <a:rPr sz="2000" dirty="0">
                <a:solidFill>
                  <a:srgbClr val="222222"/>
                </a:solidFill>
              </a:rPr>
              <a:t> </a:t>
            </a:r>
            <a:r>
              <a:rPr sz="2000" dirty="0" err="1">
                <a:solidFill>
                  <a:srgbClr val="222222"/>
                </a:solidFill>
              </a:rPr>
              <a:t>cada</a:t>
            </a:r>
            <a:r>
              <a:rPr sz="2000" dirty="0">
                <a:solidFill>
                  <a:srgbClr val="222222"/>
                </a:solidFill>
              </a:rPr>
              <a:t> forma de </a:t>
            </a:r>
            <a:r>
              <a:rPr sz="2000" dirty="0" err="1">
                <a:solidFill>
                  <a:srgbClr val="222222"/>
                </a:solidFill>
              </a:rPr>
              <a:t>fallar</a:t>
            </a:r>
            <a:endParaRPr lang="es-ES" sz="2000" dirty="0">
              <a:solidFill>
                <a:srgbClr val="222222"/>
              </a:solidFill>
            </a:endParaRPr>
          </a:p>
          <a:p>
            <a:pPr>
              <a:spcAft>
                <a:spcPts val="1200"/>
              </a:spcAft>
            </a:pPr>
            <a:endParaRPr sz="2000" dirty="0">
              <a:solidFill>
                <a:srgbClr val="222222"/>
              </a:solidFill>
            </a:endParaRPr>
          </a:p>
          <a:p>
            <a:pPr>
              <a:spcAft>
                <a:spcPts val="1200"/>
              </a:spcAft>
            </a:pPr>
            <a:r>
              <a:rPr sz="2000" dirty="0">
                <a:solidFill>
                  <a:srgbClr val="222222"/>
                </a:solidFill>
              </a:rPr>
              <a:t>•  El </a:t>
            </a:r>
            <a:r>
              <a:rPr sz="2000" dirty="0" err="1">
                <a:solidFill>
                  <a:srgbClr val="222222"/>
                </a:solidFill>
              </a:rPr>
              <a:t>nombre</a:t>
            </a:r>
            <a:r>
              <a:rPr sz="2000" dirty="0">
                <a:solidFill>
                  <a:srgbClr val="222222"/>
                </a:solidFill>
              </a:rPr>
              <a:t> de </a:t>
            </a:r>
            <a:r>
              <a:rPr sz="2000" dirty="0" err="1">
                <a:solidFill>
                  <a:srgbClr val="222222"/>
                </a:solidFill>
              </a:rPr>
              <a:t>cada</a:t>
            </a:r>
            <a:r>
              <a:rPr sz="2000" dirty="0">
                <a:solidFill>
                  <a:srgbClr val="222222"/>
                </a:solidFill>
              </a:rPr>
              <a:t> </a:t>
            </a:r>
            <a:r>
              <a:rPr sz="2000" dirty="0" err="1">
                <a:solidFill>
                  <a:srgbClr val="222222"/>
                </a:solidFill>
              </a:rPr>
              <a:t>regla</a:t>
            </a:r>
            <a:r>
              <a:rPr sz="2000" dirty="0">
                <a:solidFill>
                  <a:srgbClr val="222222"/>
                </a:solidFill>
              </a:rPr>
              <a:t> documenta la </a:t>
            </a:r>
            <a:r>
              <a:rPr sz="2000" dirty="0" err="1">
                <a:solidFill>
                  <a:srgbClr val="222222"/>
                </a:solidFill>
              </a:rPr>
              <a:t>condición</a:t>
            </a:r>
            <a:r>
              <a:rPr sz="2000" dirty="0">
                <a:solidFill>
                  <a:srgbClr val="222222"/>
                </a:solidFill>
              </a:rPr>
              <a:t> original (`neg.: …`)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B2A4A"/>
                </a:solidFill>
              </a:rPr>
              <a:t>El frontend de configuración (la pieza compleja)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43000"/>
            <a:ext cx="1280160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A5A"/>
                </a:solidFill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10642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dirty="0" err="1">
                <a:solidFill>
                  <a:srgbClr val="222222"/>
                </a:solidFill>
              </a:rPr>
              <a:t>Generado</a:t>
            </a:r>
            <a:r>
              <a:rPr sz="2400" b="1" dirty="0">
                <a:solidFill>
                  <a:srgbClr val="222222"/>
                </a:solidFill>
              </a:rPr>
              <a:t> a </a:t>
            </a:r>
            <a:r>
              <a:rPr sz="2400" b="1" dirty="0" err="1">
                <a:solidFill>
                  <a:srgbClr val="222222"/>
                </a:solidFill>
              </a:rPr>
              <a:t>partir</a:t>
            </a:r>
            <a:r>
              <a:rPr sz="2400" b="1" dirty="0">
                <a:solidFill>
                  <a:srgbClr val="222222"/>
                </a:solidFill>
              </a:rPr>
              <a:t> de la </a:t>
            </a:r>
            <a:r>
              <a:rPr sz="2400" b="1" dirty="0" err="1">
                <a:solidFill>
                  <a:srgbClr val="222222"/>
                </a:solidFill>
              </a:rPr>
              <a:t>documentación</a:t>
            </a:r>
            <a:r>
              <a:rPr sz="2400" b="1" dirty="0">
                <a:solidFill>
                  <a:srgbClr val="222222"/>
                </a:solidFill>
              </a:rPr>
              <a:t> y del </a:t>
            </a:r>
            <a:r>
              <a:rPr sz="2400" b="1" dirty="0" err="1">
                <a:solidFill>
                  <a:srgbClr val="222222"/>
                </a:solidFill>
              </a:rPr>
              <a:t>modelo</a:t>
            </a:r>
            <a:r>
              <a:rPr sz="2400" b="1" dirty="0">
                <a:solidFill>
                  <a:srgbClr val="222222"/>
                </a:solidFill>
              </a:rPr>
              <a:t> de </a:t>
            </a:r>
            <a:r>
              <a:rPr sz="2400" b="1" dirty="0" err="1">
                <a:solidFill>
                  <a:srgbClr val="222222"/>
                </a:solidFill>
              </a:rPr>
              <a:t>datos</a:t>
            </a:r>
            <a:r>
              <a:rPr sz="2400" b="1" dirty="0">
                <a:solidFill>
                  <a:srgbClr val="222222"/>
                </a:solidFill>
              </a:rPr>
              <a:t> SQL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157795"/>
            <a:ext cx="1106424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dirty="0">
                <a:solidFill>
                  <a:srgbClr val="222222"/>
                </a:solidFill>
              </a:rPr>
              <a:t>•  CRUD de </a:t>
            </a:r>
            <a:r>
              <a:rPr sz="2000" dirty="0" err="1">
                <a:solidFill>
                  <a:srgbClr val="222222"/>
                </a:solidFill>
              </a:rPr>
              <a:t>ofertas</a:t>
            </a:r>
            <a:r>
              <a:rPr sz="2000" dirty="0">
                <a:solidFill>
                  <a:srgbClr val="222222"/>
                </a:solidFill>
              </a:rPr>
              <a:t>, </a:t>
            </a:r>
            <a:r>
              <a:rPr sz="2000" dirty="0" err="1">
                <a:solidFill>
                  <a:srgbClr val="222222"/>
                </a:solidFill>
              </a:rPr>
              <a:t>reglas</a:t>
            </a:r>
            <a:r>
              <a:rPr sz="2000" dirty="0">
                <a:solidFill>
                  <a:srgbClr val="222222"/>
                </a:solidFill>
              </a:rPr>
              <a:t>, </a:t>
            </a:r>
            <a:r>
              <a:rPr sz="2000" dirty="0" err="1">
                <a:solidFill>
                  <a:srgbClr val="222222"/>
                </a:solidFill>
              </a:rPr>
              <a:t>condiciones</a:t>
            </a:r>
            <a:r>
              <a:rPr sz="2000" dirty="0">
                <a:solidFill>
                  <a:srgbClr val="222222"/>
                </a:solidFill>
              </a:rPr>
              <a:t>, </a:t>
            </a:r>
            <a:r>
              <a:rPr sz="2000" dirty="0" err="1">
                <a:solidFill>
                  <a:srgbClr val="222222"/>
                </a:solidFill>
              </a:rPr>
              <a:t>acciones</a:t>
            </a:r>
            <a:r>
              <a:rPr sz="2000" dirty="0">
                <a:solidFill>
                  <a:srgbClr val="222222"/>
                </a:solidFill>
              </a:rPr>
              <a:t> y </a:t>
            </a:r>
            <a:r>
              <a:rPr sz="2000" dirty="0" err="1">
                <a:solidFill>
                  <a:srgbClr val="222222"/>
                </a:solidFill>
              </a:rPr>
              <a:t>parámetros</a:t>
            </a:r>
            <a:endParaRPr lang="es-ES" sz="2000" dirty="0">
              <a:solidFill>
                <a:srgbClr val="222222"/>
              </a:solidFill>
            </a:endParaRPr>
          </a:p>
          <a:p>
            <a:pPr>
              <a:spcAft>
                <a:spcPts val="1200"/>
              </a:spcAft>
            </a:pPr>
            <a:endParaRPr sz="2000" dirty="0">
              <a:solidFill>
                <a:srgbClr val="222222"/>
              </a:solidFill>
            </a:endParaRPr>
          </a:p>
          <a:p>
            <a:pPr>
              <a:spcAft>
                <a:spcPts val="1200"/>
              </a:spcAft>
            </a:pPr>
            <a:r>
              <a:rPr sz="2000" dirty="0">
                <a:solidFill>
                  <a:srgbClr val="222222"/>
                </a:solidFill>
              </a:rPr>
              <a:t>•  </a:t>
            </a:r>
            <a:r>
              <a:rPr sz="2000" dirty="0" err="1">
                <a:solidFill>
                  <a:srgbClr val="222222"/>
                </a:solidFill>
              </a:rPr>
              <a:t>Simuladores</a:t>
            </a:r>
            <a:r>
              <a:rPr sz="2000" dirty="0">
                <a:solidFill>
                  <a:srgbClr val="222222"/>
                </a:solidFill>
              </a:rPr>
              <a:t> de las 3 </a:t>
            </a:r>
            <a:r>
              <a:rPr sz="2000" dirty="0" err="1">
                <a:solidFill>
                  <a:srgbClr val="222222"/>
                </a:solidFill>
              </a:rPr>
              <a:t>fases</a:t>
            </a:r>
            <a:r>
              <a:rPr sz="2000" dirty="0">
                <a:solidFill>
                  <a:srgbClr val="222222"/>
                </a:solidFill>
              </a:rPr>
              <a:t> con </a:t>
            </a:r>
            <a:r>
              <a:rPr sz="2000" dirty="0" err="1">
                <a:solidFill>
                  <a:srgbClr val="222222"/>
                </a:solidFill>
              </a:rPr>
              <a:t>traza</a:t>
            </a:r>
            <a:r>
              <a:rPr sz="2000" dirty="0">
                <a:solidFill>
                  <a:srgbClr val="222222"/>
                </a:solidFill>
              </a:rPr>
              <a:t> visual de la </a:t>
            </a:r>
            <a:r>
              <a:rPr sz="2000" dirty="0" err="1">
                <a:solidFill>
                  <a:srgbClr val="222222"/>
                </a:solidFill>
              </a:rPr>
              <a:t>decisión</a:t>
            </a:r>
            <a:endParaRPr lang="es-ES" sz="2000" dirty="0">
              <a:solidFill>
                <a:srgbClr val="222222"/>
              </a:solidFill>
            </a:endParaRPr>
          </a:p>
          <a:p>
            <a:pPr>
              <a:spcAft>
                <a:spcPts val="1200"/>
              </a:spcAft>
            </a:pPr>
            <a:endParaRPr sz="2000" dirty="0">
              <a:solidFill>
                <a:srgbClr val="222222"/>
              </a:solidFill>
            </a:endParaRPr>
          </a:p>
          <a:p>
            <a:pPr>
              <a:spcAft>
                <a:spcPts val="1200"/>
              </a:spcAft>
            </a:pPr>
            <a:r>
              <a:rPr sz="2000" dirty="0">
                <a:solidFill>
                  <a:srgbClr val="222222"/>
                </a:solidFill>
              </a:rPr>
              <a:t>•  Import/export de </a:t>
            </a:r>
            <a:r>
              <a:rPr sz="2000" dirty="0" err="1">
                <a:solidFill>
                  <a:srgbClr val="222222"/>
                </a:solidFill>
              </a:rPr>
              <a:t>configuración</a:t>
            </a:r>
            <a:r>
              <a:rPr sz="2000" dirty="0">
                <a:solidFill>
                  <a:srgbClr val="222222"/>
                </a:solidFill>
              </a:rPr>
              <a:t> + snapshots </a:t>
            </a:r>
            <a:r>
              <a:rPr sz="2000" dirty="0" err="1">
                <a:solidFill>
                  <a:srgbClr val="222222"/>
                </a:solidFill>
              </a:rPr>
              <a:t>automáticos</a:t>
            </a:r>
            <a:r>
              <a:rPr sz="2000" dirty="0">
                <a:solidFill>
                  <a:srgbClr val="222222"/>
                </a:solidFill>
              </a:rPr>
              <a:t> y </a:t>
            </a:r>
            <a:r>
              <a:rPr sz="2000" dirty="0" err="1">
                <a:solidFill>
                  <a:srgbClr val="222222"/>
                </a:solidFill>
              </a:rPr>
              <a:t>restauración</a:t>
            </a:r>
            <a:endParaRPr lang="es-ES" sz="2000" dirty="0">
              <a:solidFill>
                <a:srgbClr val="222222"/>
              </a:solidFill>
            </a:endParaRPr>
          </a:p>
          <a:p>
            <a:pPr>
              <a:spcAft>
                <a:spcPts val="1200"/>
              </a:spcAft>
            </a:pPr>
            <a:endParaRPr sz="2000" dirty="0">
              <a:solidFill>
                <a:srgbClr val="222222"/>
              </a:solidFill>
            </a:endParaRPr>
          </a:p>
          <a:p>
            <a:pPr>
              <a:spcAft>
                <a:spcPts val="1200"/>
              </a:spcAft>
            </a:pPr>
            <a:r>
              <a:rPr sz="2000" dirty="0">
                <a:solidFill>
                  <a:srgbClr val="222222"/>
                </a:solidFill>
              </a:rPr>
              <a:t>•  </a:t>
            </a:r>
            <a:r>
              <a:rPr sz="2000" dirty="0" err="1">
                <a:solidFill>
                  <a:srgbClr val="222222"/>
                </a:solidFill>
              </a:rPr>
              <a:t>Gestión</a:t>
            </a:r>
            <a:r>
              <a:rPr sz="2000" dirty="0">
                <a:solidFill>
                  <a:srgbClr val="222222"/>
                </a:solidFill>
              </a:rPr>
              <a:t> de </a:t>
            </a:r>
            <a:r>
              <a:rPr sz="2000" dirty="0" err="1">
                <a:solidFill>
                  <a:srgbClr val="222222"/>
                </a:solidFill>
              </a:rPr>
              <a:t>vigencias</a:t>
            </a:r>
            <a:r>
              <a:rPr sz="2000" dirty="0">
                <a:solidFill>
                  <a:srgbClr val="222222"/>
                </a:solidFill>
              </a:rPr>
              <a:t> (</a:t>
            </a:r>
            <a:r>
              <a:rPr sz="2000" dirty="0" err="1">
                <a:solidFill>
                  <a:srgbClr val="222222"/>
                </a:solidFill>
              </a:rPr>
              <a:t>periodos</a:t>
            </a:r>
            <a:r>
              <a:rPr sz="2000" dirty="0">
                <a:solidFill>
                  <a:srgbClr val="222222"/>
                </a:solidFill>
              </a:rPr>
              <a:t> de </a:t>
            </a:r>
            <a:r>
              <a:rPr sz="2000" dirty="0" err="1">
                <a:solidFill>
                  <a:srgbClr val="222222"/>
                </a:solidFill>
              </a:rPr>
              <a:t>configuración</a:t>
            </a:r>
            <a:r>
              <a:rPr sz="2000" dirty="0">
                <a:solidFill>
                  <a:srgbClr val="222222"/>
                </a:solidFill>
              </a:rPr>
              <a:t>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9144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B2A4A"/>
                </a:solidFill>
              </a:rPr>
              <a:t>Validación dual contra el banco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43000"/>
            <a:ext cx="1280160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A5A"/>
                </a:solidFill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77927"/>
            <a:ext cx="876504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b="1" dirty="0">
                <a:solidFill>
                  <a:srgbClr val="222222"/>
                </a:solidFill>
              </a:rPr>
              <a:t>Implementación del motor en el</a:t>
            </a:r>
            <a:r>
              <a:rPr sz="2400" b="1" dirty="0">
                <a:solidFill>
                  <a:srgbClr val="222222"/>
                </a:solidFill>
              </a:rPr>
              <a:t> </a:t>
            </a:r>
            <a:r>
              <a:rPr sz="2400" b="1" dirty="0" err="1">
                <a:solidFill>
                  <a:srgbClr val="222222"/>
                </a:solidFill>
              </a:rPr>
              <a:t>sistema</a:t>
            </a:r>
            <a:r>
              <a:rPr sz="2400" b="1" dirty="0">
                <a:solidFill>
                  <a:srgbClr val="222222"/>
                </a:solidFill>
              </a:rPr>
              <a:t> de workflow del banc</a:t>
            </a:r>
            <a:r>
              <a:rPr lang="es-ES" sz="2400" b="1" dirty="0">
                <a:solidFill>
                  <a:srgbClr val="222222"/>
                </a:solidFill>
              </a:rPr>
              <a:t>o</a:t>
            </a:r>
            <a:endParaRPr sz="2400" b="1" dirty="0">
              <a:solidFill>
                <a:srgbClr val="222222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88719" y="1693991"/>
            <a:ext cx="946357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es-ES" sz="2000" dirty="0">
                <a:solidFill>
                  <a:srgbClr val="222222"/>
                </a:solidFill>
              </a:rPr>
              <a:t>•  El motor debe implementarse en el sistema de </a:t>
            </a:r>
            <a:r>
              <a:rPr lang="es-ES" sz="2000" dirty="0" err="1">
                <a:solidFill>
                  <a:srgbClr val="222222"/>
                </a:solidFill>
              </a:rPr>
              <a:t>workflow</a:t>
            </a:r>
            <a:r>
              <a:rPr lang="es-ES" sz="2000" dirty="0">
                <a:solidFill>
                  <a:srgbClr val="222222"/>
                </a:solidFill>
              </a:rPr>
              <a:t> de la entidad. Se ha facilitado el código fuente para que los equipos de desarrollo de </a:t>
            </a:r>
            <a:r>
              <a:rPr lang="es-ES" sz="2000" dirty="0" err="1">
                <a:solidFill>
                  <a:srgbClr val="222222"/>
                </a:solidFill>
              </a:rPr>
              <a:t>workflow</a:t>
            </a:r>
            <a:r>
              <a:rPr lang="es-ES" sz="2000" dirty="0">
                <a:solidFill>
                  <a:srgbClr val="222222"/>
                </a:solidFill>
              </a:rPr>
              <a:t> lo implementen </a:t>
            </a:r>
          </a:p>
        </p:txBody>
      </p:sp>
      <p:sp>
        <p:nvSpPr>
          <p:cNvPr id="10" name="TextBox 5">
            <a:extLst>
              <a:ext uri="{FF2B5EF4-FFF2-40B4-BE49-F238E27FC236}">
                <a16:creationId xmlns:a16="http://schemas.microsoft.com/office/drawing/2014/main" id="{7C418FA5-E17A-208B-F01F-F30350E4DC34}"/>
              </a:ext>
            </a:extLst>
          </p:cNvPr>
          <p:cNvSpPr txBox="1"/>
          <p:nvPr/>
        </p:nvSpPr>
        <p:spPr>
          <a:xfrm>
            <a:off x="548640" y="2929371"/>
            <a:ext cx="988683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dirty="0" err="1">
                <a:solidFill>
                  <a:srgbClr val="222222"/>
                </a:solidFill>
              </a:rPr>
              <a:t>Mismo</a:t>
            </a:r>
            <a:r>
              <a:rPr sz="2400" b="1" dirty="0">
                <a:solidFill>
                  <a:srgbClr val="222222"/>
                </a:solidFill>
              </a:rPr>
              <a:t> input → motor local + </a:t>
            </a:r>
            <a:r>
              <a:rPr sz="2400" b="1" dirty="0" err="1">
                <a:solidFill>
                  <a:srgbClr val="222222"/>
                </a:solidFill>
              </a:rPr>
              <a:t>sistema</a:t>
            </a:r>
            <a:r>
              <a:rPr sz="2400" b="1" dirty="0">
                <a:solidFill>
                  <a:srgbClr val="222222"/>
                </a:solidFill>
              </a:rPr>
              <a:t> de workflow del banco → </a:t>
            </a:r>
            <a:r>
              <a:rPr sz="2400" b="1" dirty="0" err="1">
                <a:solidFill>
                  <a:srgbClr val="222222"/>
                </a:solidFill>
              </a:rPr>
              <a:t>comparar</a:t>
            </a:r>
            <a:endParaRPr sz="2400" b="1" dirty="0">
              <a:solidFill>
                <a:srgbClr val="222222"/>
              </a:solidFill>
            </a:endParaRPr>
          </a:p>
        </p:txBody>
      </p:sp>
      <p:sp>
        <p:nvSpPr>
          <p:cNvPr id="12" name="TextBox 6">
            <a:extLst>
              <a:ext uri="{FF2B5EF4-FFF2-40B4-BE49-F238E27FC236}">
                <a16:creationId xmlns:a16="http://schemas.microsoft.com/office/drawing/2014/main" id="{7B87D19C-8FAA-8541-D0DC-E75D4FC1839A}"/>
              </a:ext>
            </a:extLst>
          </p:cNvPr>
          <p:cNvSpPr txBox="1"/>
          <p:nvPr/>
        </p:nvSpPr>
        <p:spPr>
          <a:xfrm>
            <a:off x="1188719" y="3541873"/>
            <a:ext cx="9246754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es-ES" sz="2000" dirty="0">
                <a:solidFill>
                  <a:srgbClr val="222222"/>
                </a:solidFill>
              </a:rPr>
              <a:t>•  Para la validación se ha solicitado a la entidad un </a:t>
            </a:r>
            <a:r>
              <a:rPr lang="es-ES" sz="2000" dirty="0" err="1">
                <a:solidFill>
                  <a:srgbClr val="222222"/>
                </a:solidFill>
              </a:rPr>
              <a:t>endpoint</a:t>
            </a:r>
            <a:r>
              <a:rPr lang="es-ES" sz="2000" dirty="0">
                <a:solidFill>
                  <a:srgbClr val="222222"/>
                </a:solidFill>
              </a:rPr>
              <a:t> que nos permita obtener la respuesta del simulador para un conjunto de datos. Esto permite c</a:t>
            </a:r>
            <a:r>
              <a:rPr sz="2000" dirty="0" err="1">
                <a:solidFill>
                  <a:srgbClr val="222222"/>
                </a:solidFill>
              </a:rPr>
              <a:t>ontrasta</a:t>
            </a:r>
            <a:r>
              <a:rPr lang="es-ES" sz="2000" dirty="0">
                <a:solidFill>
                  <a:srgbClr val="222222"/>
                </a:solidFill>
              </a:rPr>
              <a:t>r</a:t>
            </a:r>
            <a:r>
              <a:rPr sz="2000" dirty="0">
                <a:solidFill>
                  <a:srgbClr val="222222"/>
                </a:solidFill>
              </a:rPr>
              <a:t> el </a:t>
            </a:r>
            <a:r>
              <a:rPr sz="2000" dirty="0" err="1">
                <a:solidFill>
                  <a:srgbClr val="222222"/>
                </a:solidFill>
              </a:rPr>
              <a:t>resultado</a:t>
            </a:r>
            <a:r>
              <a:rPr sz="2000" dirty="0">
                <a:solidFill>
                  <a:srgbClr val="222222"/>
                </a:solidFill>
              </a:rPr>
              <a:t> del motor de la PoC con el del </a:t>
            </a:r>
            <a:r>
              <a:rPr sz="2000" dirty="0" err="1">
                <a:solidFill>
                  <a:srgbClr val="222222"/>
                </a:solidFill>
              </a:rPr>
              <a:t>sistema</a:t>
            </a:r>
            <a:r>
              <a:rPr sz="2000" dirty="0">
                <a:solidFill>
                  <a:srgbClr val="222222"/>
                </a:solidFill>
              </a:rPr>
              <a:t> real</a:t>
            </a:r>
            <a:endParaRPr lang="es-ES" sz="2000" dirty="0">
              <a:solidFill>
                <a:srgbClr val="222222"/>
              </a:solidFill>
            </a:endParaRPr>
          </a:p>
          <a:p>
            <a:pPr>
              <a:spcAft>
                <a:spcPts val="1200"/>
              </a:spcAft>
            </a:pPr>
            <a:endParaRPr sz="2000" dirty="0">
              <a:solidFill>
                <a:srgbClr val="222222"/>
              </a:solidFill>
            </a:endParaRPr>
          </a:p>
          <a:p>
            <a:pPr>
              <a:spcAft>
                <a:spcPts val="1200"/>
              </a:spcAft>
            </a:pPr>
            <a:r>
              <a:rPr sz="2000" dirty="0">
                <a:solidFill>
                  <a:srgbClr val="222222"/>
                </a:solidFill>
              </a:rPr>
              <a:t>•  </a:t>
            </a:r>
            <a:r>
              <a:rPr lang="es-ES" sz="2000" dirty="0">
                <a:solidFill>
                  <a:srgbClr val="222222"/>
                </a:solidFill>
              </a:rPr>
              <a:t>Además, sí podemos inyectar y gestionar toda la configuración del motor desde una aplicación externa conectada al servidor SQL de sus entornos (</a:t>
            </a:r>
            <a:r>
              <a:rPr lang="es-ES" sz="2000" dirty="0" err="1">
                <a:solidFill>
                  <a:srgbClr val="222222"/>
                </a:solidFill>
              </a:rPr>
              <a:t>staging</a:t>
            </a:r>
            <a:r>
              <a:rPr lang="es-ES" sz="2000" dirty="0">
                <a:solidFill>
                  <a:srgbClr val="222222"/>
                </a:solidFill>
              </a:rPr>
              <a:t>/producción) mediante un a</a:t>
            </a:r>
            <a:r>
              <a:rPr sz="2000" dirty="0" err="1">
                <a:solidFill>
                  <a:srgbClr val="222222"/>
                </a:solidFill>
              </a:rPr>
              <a:t>daptador</a:t>
            </a:r>
            <a:r>
              <a:rPr sz="2000" dirty="0">
                <a:solidFill>
                  <a:srgbClr val="222222"/>
                </a:solidFill>
              </a:rPr>
              <a:t> de </a:t>
            </a:r>
            <a:r>
              <a:rPr sz="2000" dirty="0" err="1">
                <a:solidFill>
                  <a:srgbClr val="222222"/>
                </a:solidFill>
              </a:rPr>
              <a:t>publicación</a:t>
            </a:r>
            <a:r>
              <a:rPr sz="2000" dirty="0">
                <a:solidFill>
                  <a:srgbClr val="222222"/>
                </a:solidFill>
              </a:rPr>
              <a:t> de la </a:t>
            </a:r>
            <a:r>
              <a:rPr sz="2000" dirty="0" err="1">
                <a:solidFill>
                  <a:srgbClr val="222222"/>
                </a:solidFill>
              </a:rPr>
              <a:t>configuración</a:t>
            </a:r>
            <a:r>
              <a:rPr sz="2000" dirty="0">
                <a:solidFill>
                  <a:srgbClr val="222222"/>
                </a:solidFill>
              </a:rPr>
              <a:t> </a:t>
            </a:r>
            <a:r>
              <a:rPr lang="es-ES" sz="2000" dirty="0">
                <a:solidFill>
                  <a:srgbClr val="222222"/>
                </a:solidFill>
              </a:rPr>
              <a:t>en </a:t>
            </a:r>
            <a:r>
              <a:rPr sz="2000" dirty="0">
                <a:solidFill>
                  <a:srgbClr val="222222"/>
                </a:solidFill>
              </a:rPr>
              <a:t>workflow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B2A4A"/>
                </a:solidFill>
              </a:rPr>
              <a:t>Calidad: escenarios dirigidos por datos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43000"/>
            <a:ext cx="1280160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A5A"/>
                </a:solidFill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39" y="1417320"/>
            <a:ext cx="1139512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dirty="0">
                <a:solidFill>
                  <a:srgbClr val="222222"/>
                </a:solidFill>
              </a:rPr>
              <a:t>Los tests y el </a:t>
            </a:r>
            <a:r>
              <a:rPr sz="2400" b="1" dirty="0" err="1">
                <a:solidFill>
                  <a:srgbClr val="222222"/>
                </a:solidFill>
              </a:rPr>
              <a:t>informe</a:t>
            </a:r>
            <a:r>
              <a:rPr sz="2400" b="1" dirty="0">
                <a:solidFill>
                  <a:srgbClr val="222222"/>
                </a:solidFill>
              </a:rPr>
              <a:t> para </a:t>
            </a:r>
            <a:r>
              <a:rPr sz="2400" b="1" dirty="0" err="1">
                <a:solidFill>
                  <a:srgbClr val="222222"/>
                </a:solidFill>
              </a:rPr>
              <a:t>cliente</a:t>
            </a:r>
            <a:r>
              <a:rPr sz="2400" b="1" dirty="0">
                <a:solidFill>
                  <a:srgbClr val="222222"/>
                </a:solidFill>
              </a:rPr>
              <a:t> </a:t>
            </a:r>
            <a:r>
              <a:rPr sz="2400" b="1" dirty="0" err="1">
                <a:solidFill>
                  <a:srgbClr val="222222"/>
                </a:solidFill>
              </a:rPr>
              <a:t>consumen</a:t>
            </a:r>
            <a:r>
              <a:rPr sz="2400" b="1" dirty="0">
                <a:solidFill>
                  <a:srgbClr val="222222"/>
                </a:solidFill>
              </a:rPr>
              <a:t> las MISMAS </a:t>
            </a:r>
            <a:r>
              <a:rPr sz="2400" b="1" dirty="0" err="1">
                <a:solidFill>
                  <a:srgbClr val="222222"/>
                </a:solidFill>
              </a:rPr>
              <a:t>definiciones</a:t>
            </a:r>
            <a:r>
              <a:rPr sz="2400" b="1" dirty="0">
                <a:solidFill>
                  <a:srgbClr val="222222"/>
                </a:solidFill>
              </a:rPr>
              <a:t> → </a:t>
            </a:r>
            <a:r>
              <a:rPr sz="2400" b="1" dirty="0" err="1">
                <a:solidFill>
                  <a:srgbClr val="222222"/>
                </a:solidFill>
              </a:rPr>
              <a:t>nunca</a:t>
            </a:r>
            <a:r>
              <a:rPr sz="2400" b="1" dirty="0">
                <a:solidFill>
                  <a:srgbClr val="222222"/>
                </a:solidFill>
              </a:rPr>
              <a:t> </a:t>
            </a:r>
            <a:r>
              <a:rPr sz="2400" b="1" dirty="0" err="1">
                <a:solidFill>
                  <a:srgbClr val="222222"/>
                </a:solidFill>
              </a:rPr>
              <a:t>divergen</a:t>
            </a:r>
            <a:endParaRPr sz="2400" b="1" dirty="0">
              <a:solidFill>
                <a:srgbClr val="222222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88719" y="2239709"/>
            <a:ext cx="8643437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dirty="0">
                <a:solidFill>
                  <a:srgbClr val="222222"/>
                </a:solidFill>
              </a:rPr>
              <a:t>•  </a:t>
            </a:r>
            <a:r>
              <a:rPr sz="2000" b="1" dirty="0">
                <a:solidFill>
                  <a:srgbClr val="222222"/>
                </a:solidFill>
              </a:rPr>
              <a:t>Golden</a:t>
            </a:r>
            <a:r>
              <a:rPr sz="2000" dirty="0">
                <a:solidFill>
                  <a:srgbClr val="222222"/>
                </a:solidFill>
              </a:rPr>
              <a:t> </a:t>
            </a:r>
            <a:r>
              <a:rPr sz="2000" dirty="0" err="1">
                <a:solidFill>
                  <a:srgbClr val="222222"/>
                </a:solidFill>
              </a:rPr>
              <a:t>generado</a:t>
            </a:r>
            <a:r>
              <a:rPr sz="2000" dirty="0">
                <a:solidFill>
                  <a:srgbClr val="222222"/>
                </a:solidFill>
              </a:rPr>
              <a:t> </a:t>
            </a:r>
            <a:r>
              <a:rPr sz="2000" dirty="0" err="1">
                <a:solidFill>
                  <a:srgbClr val="222222"/>
                </a:solidFill>
              </a:rPr>
              <a:t>por</a:t>
            </a:r>
            <a:r>
              <a:rPr sz="2000" dirty="0">
                <a:solidFill>
                  <a:srgbClr val="222222"/>
                </a:solidFill>
              </a:rPr>
              <a:t> el motor y </a:t>
            </a:r>
            <a:r>
              <a:rPr sz="2000" dirty="0" err="1">
                <a:solidFill>
                  <a:srgbClr val="222222"/>
                </a:solidFill>
              </a:rPr>
              <a:t>revisado</a:t>
            </a:r>
            <a:r>
              <a:rPr sz="2000" dirty="0">
                <a:solidFill>
                  <a:srgbClr val="222222"/>
                </a:solidFill>
              </a:rPr>
              <a:t> a mano contra el </a:t>
            </a:r>
            <a:r>
              <a:rPr sz="2000" dirty="0" err="1">
                <a:solidFill>
                  <a:srgbClr val="222222"/>
                </a:solidFill>
              </a:rPr>
              <a:t>cuadro</a:t>
            </a:r>
            <a:r>
              <a:rPr sz="2000" dirty="0">
                <a:solidFill>
                  <a:srgbClr val="222222"/>
                </a:solidFill>
              </a:rPr>
              <a:t> de </a:t>
            </a:r>
            <a:r>
              <a:rPr sz="2000" dirty="0" err="1">
                <a:solidFill>
                  <a:srgbClr val="222222"/>
                </a:solidFill>
              </a:rPr>
              <a:t>decisión</a:t>
            </a:r>
            <a:endParaRPr lang="es-ES" sz="2000" dirty="0">
              <a:solidFill>
                <a:srgbClr val="222222"/>
              </a:solidFill>
            </a:endParaRPr>
          </a:p>
          <a:p>
            <a:pPr>
              <a:spcAft>
                <a:spcPts val="1200"/>
              </a:spcAft>
            </a:pPr>
            <a:endParaRPr sz="2000" dirty="0">
              <a:solidFill>
                <a:srgbClr val="222222"/>
              </a:solidFill>
            </a:endParaRPr>
          </a:p>
          <a:p>
            <a:pPr>
              <a:spcAft>
                <a:spcPts val="1200"/>
              </a:spcAft>
            </a:pPr>
            <a:r>
              <a:rPr sz="2000" dirty="0">
                <a:solidFill>
                  <a:srgbClr val="222222"/>
                </a:solidFill>
              </a:rPr>
              <a:t>•  El </a:t>
            </a:r>
            <a:r>
              <a:rPr sz="2000" b="1" dirty="0">
                <a:solidFill>
                  <a:srgbClr val="222222"/>
                </a:solidFill>
              </a:rPr>
              <a:t>freeze</a:t>
            </a:r>
            <a:r>
              <a:rPr sz="2000" dirty="0">
                <a:solidFill>
                  <a:srgbClr val="222222"/>
                </a:solidFill>
              </a:rPr>
              <a:t> </a:t>
            </a:r>
            <a:r>
              <a:rPr sz="2000" dirty="0" err="1">
                <a:solidFill>
                  <a:srgbClr val="222222"/>
                </a:solidFill>
              </a:rPr>
              <a:t>falla</a:t>
            </a:r>
            <a:r>
              <a:rPr sz="2000" dirty="0">
                <a:solidFill>
                  <a:srgbClr val="222222"/>
                </a:solidFill>
              </a:rPr>
              <a:t> </a:t>
            </a:r>
            <a:r>
              <a:rPr sz="2000" dirty="0" err="1">
                <a:solidFill>
                  <a:srgbClr val="222222"/>
                </a:solidFill>
              </a:rPr>
              <a:t>si</a:t>
            </a:r>
            <a:r>
              <a:rPr sz="2000" dirty="0">
                <a:solidFill>
                  <a:srgbClr val="222222"/>
                </a:solidFill>
              </a:rPr>
              <a:t> el </a:t>
            </a:r>
            <a:r>
              <a:rPr sz="2000" dirty="0" err="1">
                <a:solidFill>
                  <a:srgbClr val="222222"/>
                </a:solidFill>
              </a:rPr>
              <a:t>ganador</a:t>
            </a:r>
            <a:r>
              <a:rPr sz="2000" dirty="0">
                <a:solidFill>
                  <a:srgbClr val="222222"/>
                </a:solidFill>
              </a:rPr>
              <a:t> </a:t>
            </a:r>
            <a:r>
              <a:rPr sz="2000" dirty="0" err="1">
                <a:solidFill>
                  <a:srgbClr val="222222"/>
                </a:solidFill>
              </a:rPr>
              <a:t>calculado</a:t>
            </a:r>
            <a:r>
              <a:rPr sz="2000" dirty="0">
                <a:solidFill>
                  <a:srgbClr val="222222"/>
                </a:solidFill>
              </a:rPr>
              <a:t> ≠ </a:t>
            </a:r>
            <a:r>
              <a:rPr sz="2000" dirty="0" err="1">
                <a:solidFill>
                  <a:srgbClr val="222222"/>
                </a:solidFill>
              </a:rPr>
              <a:t>ganador</a:t>
            </a:r>
            <a:r>
              <a:rPr sz="2000" dirty="0">
                <a:solidFill>
                  <a:srgbClr val="222222"/>
                </a:solidFill>
              </a:rPr>
              <a:t> </a:t>
            </a:r>
            <a:r>
              <a:rPr sz="2000" dirty="0" err="1">
                <a:solidFill>
                  <a:srgbClr val="222222"/>
                </a:solidFill>
              </a:rPr>
              <a:t>esperado</a:t>
            </a:r>
            <a:r>
              <a:rPr sz="2000" dirty="0">
                <a:solidFill>
                  <a:srgbClr val="222222"/>
                </a:solidFill>
              </a:rPr>
              <a:t> de </a:t>
            </a:r>
            <a:r>
              <a:rPr sz="2000" dirty="0" err="1">
                <a:solidFill>
                  <a:srgbClr val="222222"/>
                </a:solidFill>
              </a:rPr>
              <a:t>negocio</a:t>
            </a:r>
            <a:endParaRPr lang="es-ES" sz="2000" dirty="0">
              <a:solidFill>
                <a:srgbClr val="222222"/>
              </a:solidFill>
            </a:endParaRPr>
          </a:p>
          <a:p>
            <a:pPr>
              <a:spcAft>
                <a:spcPts val="1200"/>
              </a:spcAft>
            </a:pPr>
            <a:endParaRPr sz="2000" dirty="0">
              <a:solidFill>
                <a:srgbClr val="222222"/>
              </a:solidFill>
            </a:endParaRPr>
          </a:p>
          <a:p>
            <a:pPr>
              <a:spcAft>
                <a:spcPts val="1200"/>
              </a:spcAft>
            </a:pPr>
            <a:r>
              <a:rPr sz="2000" dirty="0">
                <a:solidFill>
                  <a:srgbClr val="222222"/>
                </a:solidFill>
              </a:rPr>
              <a:t>•  Estado de la suite: 339 tests · 301 pass en lógica pura · 36 requieren SQL real · 2 skipped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17136" y="6003776"/>
            <a:ext cx="1920240" cy="0"/>
          </a:xfrm>
          <a:prstGeom prst="line">
            <a:avLst/>
          </a:prstGeom>
          <a:ln w="15875">
            <a:solidFill>
              <a:srgbClr val="8A8F9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4608576" y="5500856"/>
            <a:ext cx="384048" cy="502920"/>
          </a:xfrm>
          <a:prstGeom prst="rect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248656" y="5180816"/>
            <a:ext cx="384048" cy="822960"/>
          </a:xfrm>
          <a:prstGeom prst="rect">
            <a:avLst/>
          </a:prstGeom>
          <a:solidFill>
            <a:srgbClr val="9CC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888736" y="4815056"/>
            <a:ext cx="384048" cy="118872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B2A4A"/>
                </a:solidFill>
              </a:rPr>
              <a:t>Stack tecnológico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43000"/>
            <a:ext cx="1280160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A5A"/>
                </a:solidFill>
              </a:rPr>
              <a:t>14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7135148"/>
              </p:ext>
            </p:extLst>
          </p:nvPr>
        </p:nvGraphicFramePr>
        <p:xfrm>
          <a:off x="548640" y="1417320"/>
          <a:ext cx="1106424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65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377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rPr sz="1800" dirty="0"/>
                        <a:t>Capa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rPr sz="1800"/>
                        <a:t>Tecnología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rPr sz="1800" dirty="0"/>
                        <a:t>Motor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rPr sz="1800"/>
                        <a:t>Node.js (ESM), funciones puras, sin dependencias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rPr sz="1800" dirty="0"/>
                        <a:t>API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rPr sz="1800"/>
                        <a:t>Express 4 · mssql 11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rPr sz="1800"/>
                        <a:t>BD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rPr sz="1800"/>
                        <a:t>SQL Server (tablas + SP)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rPr sz="1800"/>
                        <a:t>Frontend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rPr sz="1800"/>
                        <a:t>Angular 20 · RxJS · TypeScript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rPr sz="1800"/>
                        <a:t>Pruebas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rPr sz="1800"/>
                        <a:t>`node:test` · Karma/Jasmine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rPr sz="1800"/>
                        <a:t>IA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rPr sz="1800" dirty="0"/>
                        <a:t>Claude Code / </a:t>
                      </a:r>
                      <a:r>
                        <a:rPr sz="1800" dirty="0" err="1"/>
                        <a:t>OpenCode</a:t>
                      </a:r>
                      <a:r>
                        <a:rPr sz="1800" dirty="0"/>
                        <a:t> con prompts </a:t>
                      </a:r>
                      <a:r>
                        <a:rPr sz="1800" dirty="0" err="1"/>
                        <a:t>versionados</a:t>
                      </a:r>
                      <a:endParaRPr sz="1800" dirty="0"/>
                    </a:p>
                  </a:txBody>
                  <a:tcPr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B2A4A"/>
                </a:solidFill>
              </a:rPr>
              <a:t>Demo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43000"/>
            <a:ext cx="1280160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A5A"/>
                </a:solidFill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10642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dirty="0">
                <a:solidFill>
                  <a:srgbClr val="222222"/>
                </a:solidFill>
              </a:rPr>
              <a:t>(</a:t>
            </a:r>
            <a:r>
              <a:rPr sz="2400" b="1" dirty="0" err="1">
                <a:solidFill>
                  <a:srgbClr val="222222"/>
                </a:solidFill>
              </a:rPr>
              <a:t>Captura</a:t>
            </a:r>
            <a:r>
              <a:rPr sz="2400" b="1" dirty="0">
                <a:solidFill>
                  <a:srgbClr val="222222"/>
                </a:solidFill>
              </a:rPr>
              <a:t> de </a:t>
            </a:r>
            <a:r>
              <a:rPr sz="2400" b="1" dirty="0" err="1">
                <a:solidFill>
                  <a:srgbClr val="222222"/>
                </a:solidFill>
              </a:rPr>
              <a:t>pantalla</a:t>
            </a:r>
            <a:r>
              <a:rPr sz="2400" b="1" dirty="0">
                <a:solidFill>
                  <a:srgbClr val="222222"/>
                </a:solidFill>
              </a:rPr>
              <a:t> </a:t>
            </a:r>
            <a:r>
              <a:rPr sz="2400" b="1" dirty="0" err="1">
                <a:solidFill>
                  <a:srgbClr val="222222"/>
                </a:solidFill>
              </a:rPr>
              <a:t>en</a:t>
            </a:r>
            <a:r>
              <a:rPr sz="2400" b="1" dirty="0">
                <a:solidFill>
                  <a:srgbClr val="222222"/>
                </a:solidFill>
              </a:rPr>
              <a:t> vivo)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148840"/>
            <a:ext cx="8661348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dirty="0">
                <a:solidFill>
                  <a:srgbClr val="222222"/>
                </a:solidFill>
              </a:rPr>
              <a:t>•  </a:t>
            </a:r>
            <a:r>
              <a:rPr sz="2000" dirty="0" err="1">
                <a:solidFill>
                  <a:srgbClr val="222222"/>
                </a:solidFill>
              </a:rPr>
              <a:t>Simulador</a:t>
            </a:r>
            <a:r>
              <a:rPr sz="2000" dirty="0">
                <a:solidFill>
                  <a:srgbClr val="222222"/>
                </a:solidFill>
              </a:rPr>
              <a:t> PRE: </a:t>
            </a:r>
            <a:r>
              <a:rPr sz="2000" dirty="0" err="1">
                <a:solidFill>
                  <a:srgbClr val="222222"/>
                </a:solidFill>
              </a:rPr>
              <a:t>introduzco</a:t>
            </a:r>
            <a:r>
              <a:rPr sz="2000" dirty="0">
                <a:solidFill>
                  <a:srgbClr val="222222"/>
                </a:solidFill>
              </a:rPr>
              <a:t> </a:t>
            </a:r>
            <a:r>
              <a:rPr sz="2000" dirty="0" err="1">
                <a:solidFill>
                  <a:srgbClr val="222222"/>
                </a:solidFill>
              </a:rPr>
              <a:t>datos</a:t>
            </a:r>
            <a:r>
              <a:rPr sz="2000" dirty="0">
                <a:solidFill>
                  <a:srgbClr val="222222"/>
                </a:solidFill>
              </a:rPr>
              <a:t> → </a:t>
            </a:r>
            <a:r>
              <a:rPr sz="2000" dirty="0" err="1">
                <a:solidFill>
                  <a:srgbClr val="222222"/>
                </a:solidFill>
              </a:rPr>
              <a:t>veo</a:t>
            </a:r>
            <a:r>
              <a:rPr sz="2000" dirty="0">
                <a:solidFill>
                  <a:srgbClr val="222222"/>
                </a:solidFill>
              </a:rPr>
              <a:t> </a:t>
            </a:r>
            <a:r>
              <a:rPr sz="2000" dirty="0" err="1">
                <a:solidFill>
                  <a:srgbClr val="222222"/>
                </a:solidFill>
              </a:rPr>
              <a:t>ofertas</a:t>
            </a:r>
            <a:r>
              <a:rPr sz="2000" dirty="0">
                <a:solidFill>
                  <a:srgbClr val="222222"/>
                </a:solidFill>
              </a:rPr>
              <a:t> </a:t>
            </a:r>
            <a:r>
              <a:rPr sz="2000" dirty="0" err="1">
                <a:solidFill>
                  <a:srgbClr val="222222"/>
                </a:solidFill>
              </a:rPr>
              <a:t>elegibles</a:t>
            </a:r>
            <a:r>
              <a:rPr sz="2000" dirty="0">
                <a:solidFill>
                  <a:srgbClr val="222222"/>
                </a:solidFill>
              </a:rPr>
              <a:t> y </a:t>
            </a:r>
            <a:r>
              <a:rPr sz="2000" dirty="0" err="1">
                <a:solidFill>
                  <a:srgbClr val="222222"/>
                </a:solidFill>
              </a:rPr>
              <a:t>límites</a:t>
            </a:r>
            <a:endParaRPr lang="es-ES" sz="2000" dirty="0">
              <a:solidFill>
                <a:srgbClr val="222222"/>
              </a:solidFill>
            </a:endParaRPr>
          </a:p>
          <a:p>
            <a:pPr>
              <a:spcAft>
                <a:spcPts val="1200"/>
              </a:spcAft>
            </a:pPr>
            <a:endParaRPr sz="2000" dirty="0">
              <a:solidFill>
                <a:srgbClr val="222222"/>
              </a:solidFill>
            </a:endParaRPr>
          </a:p>
          <a:p>
            <a:pPr>
              <a:spcAft>
                <a:spcPts val="1200"/>
              </a:spcAft>
            </a:pPr>
            <a:r>
              <a:rPr sz="2000" dirty="0">
                <a:solidFill>
                  <a:srgbClr val="222222"/>
                </a:solidFill>
              </a:rPr>
              <a:t>•  </a:t>
            </a:r>
            <a:r>
              <a:rPr sz="2000" dirty="0" err="1">
                <a:solidFill>
                  <a:srgbClr val="222222"/>
                </a:solidFill>
              </a:rPr>
              <a:t>Simulador</a:t>
            </a:r>
            <a:r>
              <a:rPr sz="2000" dirty="0">
                <a:solidFill>
                  <a:srgbClr val="222222"/>
                </a:solidFill>
              </a:rPr>
              <a:t> FINAL: </a:t>
            </a:r>
            <a:r>
              <a:rPr sz="2000" dirty="0" err="1">
                <a:solidFill>
                  <a:srgbClr val="222222"/>
                </a:solidFill>
              </a:rPr>
              <a:t>añado</a:t>
            </a:r>
            <a:r>
              <a:rPr sz="2000" dirty="0">
                <a:solidFill>
                  <a:srgbClr val="222222"/>
                </a:solidFill>
              </a:rPr>
              <a:t> </a:t>
            </a:r>
            <a:r>
              <a:rPr sz="2000" dirty="0" err="1">
                <a:solidFill>
                  <a:srgbClr val="222222"/>
                </a:solidFill>
              </a:rPr>
              <a:t>importe</a:t>
            </a:r>
            <a:r>
              <a:rPr sz="2000" dirty="0">
                <a:solidFill>
                  <a:srgbClr val="222222"/>
                </a:solidFill>
              </a:rPr>
              <a:t>/</a:t>
            </a:r>
            <a:r>
              <a:rPr sz="2000" dirty="0" err="1">
                <a:solidFill>
                  <a:srgbClr val="222222"/>
                </a:solidFill>
              </a:rPr>
              <a:t>plazo</a:t>
            </a:r>
            <a:r>
              <a:rPr sz="2000" dirty="0">
                <a:solidFill>
                  <a:srgbClr val="222222"/>
                </a:solidFill>
              </a:rPr>
              <a:t> → </a:t>
            </a:r>
            <a:r>
              <a:rPr sz="2000" dirty="0" err="1">
                <a:solidFill>
                  <a:srgbClr val="222222"/>
                </a:solidFill>
              </a:rPr>
              <a:t>veo</a:t>
            </a:r>
            <a:r>
              <a:rPr sz="2000" dirty="0">
                <a:solidFill>
                  <a:srgbClr val="222222"/>
                </a:solidFill>
              </a:rPr>
              <a:t> la </a:t>
            </a:r>
            <a:r>
              <a:rPr sz="2000" dirty="0" err="1">
                <a:solidFill>
                  <a:srgbClr val="222222"/>
                </a:solidFill>
              </a:rPr>
              <a:t>oferta</a:t>
            </a:r>
            <a:r>
              <a:rPr sz="2000" dirty="0">
                <a:solidFill>
                  <a:srgbClr val="222222"/>
                </a:solidFill>
              </a:rPr>
              <a:t> </a:t>
            </a:r>
            <a:r>
              <a:rPr sz="2000" dirty="0" err="1">
                <a:solidFill>
                  <a:srgbClr val="222222"/>
                </a:solidFill>
              </a:rPr>
              <a:t>ganadora</a:t>
            </a:r>
            <a:r>
              <a:rPr sz="2000" dirty="0">
                <a:solidFill>
                  <a:srgbClr val="222222"/>
                </a:solidFill>
              </a:rPr>
              <a:t> y la </a:t>
            </a:r>
            <a:r>
              <a:rPr sz="2000" dirty="0" err="1">
                <a:solidFill>
                  <a:srgbClr val="222222"/>
                </a:solidFill>
              </a:rPr>
              <a:t>traza</a:t>
            </a:r>
            <a:endParaRPr lang="es-ES" sz="2000" dirty="0">
              <a:solidFill>
                <a:srgbClr val="222222"/>
              </a:solidFill>
            </a:endParaRPr>
          </a:p>
          <a:p>
            <a:pPr>
              <a:spcAft>
                <a:spcPts val="1200"/>
              </a:spcAft>
            </a:pPr>
            <a:endParaRPr sz="2000" dirty="0">
              <a:solidFill>
                <a:srgbClr val="222222"/>
              </a:solidFill>
            </a:endParaRPr>
          </a:p>
          <a:p>
            <a:pPr>
              <a:spcAft>
                <a:spcPts val="1200"/>
              </a:spcAft>
            </a:pPr>
            <a:r>
              <a:rPr sz="2000" dirty="0">
                <a:solidFill>
                  <a:srgbClr val="222222"/>
                </a:solidFill>
              </a:rPr>
              <a:t>•  </a:t>
            </a:r>
            <a:r>
              <a:rPr sz="2000" dirty="0" err="1">
                <a:solidFill>
                  <a:srgbClr val="222222"/>
                </a:solidFill>
              </a:rPr>
              <a:t>Configurador</a:t>
            </a:r>
            <a:r>
              <a:rPr sz="2000" dirty="0">
                <a:solidFill>
                  <a:srgbClr val="222222"/>
                </a:solidFill>
              </a:rPr>
              <a:t>: </a:t>
            </a:r>
            <a:r>
              <a:rPr sz="2000" dirty="0" err="1">
                <a:solidFill>
                  <a:srgbClr val="222222"/>
                </a:solidFill>
              </a:rPr>
              <a:t>cambio</a:t>
            </a:r>
            <a:r>
              <a:rPr sz="2000" dirty="0">
                <a:solidFill>
                  <a:srgbClr val="222222"/>
                </a:solidFill>
              </a:rPr>
              <a:t> un </a:t>
            </a:r>
            <a:r>
              <a:rPr sz="2000" dirty="0" err="1">
                <a:solidFill>
                  <a:srgbClr val="222222"/>
                </a:solidFill>
              </a:rPr>
              <a:t>parámetro</a:t>
            </a:r>
            <a:r>
              <a:rPr sz="2000" dirty="0">
                <a:solidFill>
                  <a:srgbClr val="222222"/>
                </a:solidFill>
              </a:rPr>
              <a:t> (p. </a:t>
            </a:r>
            <a:r>
              <a:rPr sz="2000" dirty="0" err="1">
                <a:solidFill>
                  <a:srgbClr val="222222"/>
                </a:solidFill>
              </a:rPr>
              <a:t>ej</a:t>
            </a:r>
            <a:r>
              <a:rPr sz="2000" dirty="0">
                <a:solidFill>
                  <a:srgbClr val="222222"/>
                </a:solidFill>
              </a:rPr>
              <a:t>. `MAX_LTV`) y re-</a:t>
            </a:r>
            <a:r>
              <a:rPr sz="2000" dirty="0" err="1">
                <a:solidFill>
                  <a:srgbClr val="222222"/>
                </a:solidFill>
              </a:rPr>
              <a:t>simulo</a:t>
            </a:r>
            <a:endParaRPr lang="es-ES" sz="2000" dirty="0">
              <a:solidFill>
                <a:srgbClr val="222222"/>
              </a:solidFill>
            </a:endParaRPr>
          </a:p>
          <a:p>
            <a:pPr>
              <a:spcAft>
                <a:spcPts val="1200"/>
              </a:spcAft>
            </a:pPr>
            <a:endParaRPr sz="2000" dirty="0">
              <a:solidFill>
                <a:srgbClr val="222222"/>
              </a:solidFill>
            </a:endParaRPr>
          </a:p>
          <a:p>
            <a:pPr>
              <a:spcAft>
                <a:spcPts val="1200"/>
              </a:spcAft>
            </a:pPr>
            <a:r>
              <a:rPr sz="2000" dirty="0">
                <a:solidFill>
                  <a:srgbClr val="222222"/>
                </a:solidFill>
              </a:rPr>
              <a:t>•  Snapshots: </a:t>
            </a:r>
            <a:r>
              <a:rPr sz="2000" dirty="0" err="1">
                <a:solidFill>
                  <a:srgbClr val="222222"/>
                </a:solidFill>
              </a:rPr>
              <a:t>muestro</a:t>
            </a:r>
            <a:r>
              <a:rPr sz="2000" dirty="0">
                <a:solidFill>
                  <a:srgbClr val="222222"/>
                </a:solidFill>
              </a:rPr>
              <a:t> el </a:t>
            </a:r>
            <a:r>
              <a:rPr sz="2000" dirty="0" err="1">
                <a:solidFill>
                  <a:srgbClr val="222222"/>
                </a:solidFill>
              </a:rPr>
              <a:t>versionado</a:t>
            </a:r>
            <a:r>
              <a:rPr sz="2000" dirty="0">
                <a:solidFill>
                  <a:srgbClr val="222222"/>
                </a:solidFill>
              </a:rPr>
              <a:t> de </a:t>
            </a:r>
            <a:r>
              <a:rPr sz="2000" dirty="0" err="1">
                <a:solidFill>
                  <a:srgbClr val="222222"/>
                </a:solidFill>
              </a:rPr>
              <a:t>configuración</a:t>
            </a:r>
            <a:endParaRPr sz="2000" dirty="0">
              <a:solidFill>
                <a:srgbClr val="222222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B2A4A"/>
                </a:solidFill>
              </a:rPr>
              <a:t>Aprendizajes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43000"/>
            <a:ext cx="1280160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A5A"/>
                </a:solidFill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78638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dirty="0" err="1">
                <a:solidFill>
                  <a:srgbClr val="222222"/>
                </a:solidFill>
              </a:rPr>
              <a:t>Qué</a:t>
            </a:r>
            <a:r>
              <a:rPr sz="2400" b="1" dirty="0">
                <a:solidFill>
                  <a:srgbClr val="222222"/>
                </a:solidFill>
              </a:rPr>
              <a:t> me </a:t>
            </a:r>
            <a:r>
              <a:rPr sz="2400" b="1" dirty="0" err="1">
                <a:solidFill>
                  <a:srgbClr val="222222"/>
                </a:solidFill>
              </a:rPr>
              <a:t>llevo</a:t>
            </a:r>
            <a:r>
              <a:rPr sz="2400" b="1" dirty="0">
                <a:solidFill>
                  <a:srgbClr val="222222"/>
                </a:solidFill>
              </a:rPr>
              <a:t> del TFM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39" y="2148840"/>
            <a:ext cx="10169637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dirty="0">
                <a:solidFill>
                  <a:srgbClr val="222222"/>
                </a:solidFill>
              </a:rPr>
              <a:t>•  La IA </a:t>
            </a:r>
            <a:r>
              <a:rPr sz="2000" dirty="0" err="1">
                <a:solidFill>
                  <a:srgbClr val="222222"/>
                </a:solidFill>
              </a:rPr>
              <a:t>acelera</a:t>
            </a:r>
            <a:r>
              <a:rPr sz="2000" dirty="0">
                <a:solidFill>
                  <a:srgbClr val="222222"/>
                </a:solidFill>
              </a:rPr>
              <a:t> </a:t>
            </a:r>
            <a:r>
              <a:rPr sz="2000" dirty="0" err="1">
                <a:solidFill>
                  <a:srgbClr val="222222"/>
                </a:solidFill>
              </a:rPr>
              <a:t>enormemente</a:t>
            </a:r>
            <a:r>
              <a:rPr sz="2000" dirty="0">
                <a:solidFill>
                  <a:srgbClr val="222222"/>
                </a:solidFill>
              </a:rPr>
              <a:t> la </a:t>
            </a:r>
            <a:r>
              <a:rPr sz="2000" dirty="0" err="1">
                <a:solidFill>
                  <a:srgbClr val="222222"/>
                </a:solidFill>
              </a:rPr>
              <a:t>traducción</a:t>
            </a:r>
            <a:r>
              <a:rPr sz="2000" dirty="0">
                <a:solidFill>
                  <a:srgbClr val="222222"/>
                </a:solidFill>
              </a:rPr>
              <a:t> de </a:t>
            </a:r>
            <a:r>
              <a:rPr sz="2000" dirty="0" err="1">
                <a:solidFill>
                  <a:srgbClr val="222222"/>
                </a:solidFill>
              </a:rPr>
              <a:t>documentación</a:t>
            </a:r>
            <a:r>
              <a:rPr sz="2000" dirty="0">
                <a:solidFill>
                  <a:srgbClr val="222222"/>
                </a:solidFill>
              </a:rPr>
              <a:t> a </a:t>
            </a:r>
            <a:r>
              <a:rPr sz="2000" dirty="0" err="1">
                <a:solidFill>
                  <a:srgbClr val="222222"/>
                </a:solidFill>
              </a:rPr>
              <a:t>código</a:t>
            </a:r>
            <a:r>
              <a:rPr sz="2000" dirty="0">
                <a:solidFill>
                  <a:srgbClr val="222222"/>
                </a:solidFill>
              </a:rPr>
              <a:t> (</a:t>
            </a:r>
            <a:r>
              <a:rPr sz="2000" dirty="0" err="1">
                <a:solidFill>
                  <a:srgbClr val="222222"/>
                </a:solidFill>
              </a:rPr>
              <a:t>reglas</a:t>
            </a:r>
            <a:r>
              <a:rPr sz="2000" dirty="0">
                <a:solidFill>
                  <a:srgbClr val="222222"/>
                </a:solidFill>
              </a:rPr>
              <a:t>, frontend, tests)</a:t>
            </a:r>
            <a:endParaRPr lang="es-ES" sz="2000" dirty="0">
              <a:solidFill>
                <a:srgbClr val="222222"/>
              </a:solidFill>
            </a:endParaRPr>
          </a:p>
          <a:p>
            <a:pPr>
              <a:spcAft>
                <a:spcPts val="1200"/>
              </a:spcAft>
            </a:pPr>
            <a:endParaRPr sz="2000" dirty="0">
              <a:solidFill>
                <a:srgbClr val="222222"/>
              </a:solidFill>
            </a:endParaRPr>
          </a:p>
          <a:p>
            <a:pPr>
              <a:spcAft>
                <a:spcPts val="1200"/>
              </a:spcAft>
            </a:pPr>
            <a:r>
              <a:rPr sz="2000" dirty="0">
                <a:solidFill>
                  <a:srgbClr val="222222"/>
                </a:solidFill>
              </a:rPr>
              <a:t>•  El </a:t>
            </a:r>
            <a:r>
              <a:rPr sz="2000" dirty="0" err="1">
                <a:solidFill>
                  <a:srgbClr val="222222"/>
                </a:solidFill>
              </a:rPr>
              <a:t>criterio</a:t>
            </a:r>
            <a:r>
              <a:rPr sz="2000" dirty="0">
                <a:solidFill>
                  <a:srgbClr val="222222"/>
                </a:solidFill>
              </a:rPr>
              <a:t> de </a:t>
            </a:r>
            <a:r>
              <a:rPr sz="2000" dirty="0" err="1">
                <a:solidFill>
                  <a:srgbClr val="222222"/>
                </a:solidFill>
              </a:rPr>
              <a:t>ingeniería</a:t>
            </a:r>
            <a:r>
              <a:rPr sz="2000" dirty="0">
                <a:solidFill>
                  <a:srgbClr val="222222"/>
                </a:solidFill>
              </a:rPr>
              <a:t> </a:t>
            </a:r>
            <a:r>
              <a:rPr sz="2000" dirty="0" err="1">
                <a:solidFill>
                  <a:srgbClr val="222222"/>
                </a:solidFill>
              </a:rPr>
              <a:t>sigue</a:t>
            </a:r>
            <a:r>
              <a:rPr sz="2000" dirty="0">
                <a:solidFill>
                  <a:srgbClr val="222222"/>
                </a:solidFill>
              </a:rPr>
              <a:t> </a:t>
            </a:r>
            <a:r>
              <a:rPr sz="2000" dirty="0" err="1">
                <a:solidFill>
                  <a:srgbClr val="222222"/>
                </a:solidFill>
              </a:rPr>
              <a:t>siendo</a:t>
            </a:r>
            <a:r>
              <a:rPr sz="2000" dirty="0">
                <a:solidFill>
                  <a:srgbClr val="222222"/>
                </a:solidFill>
              </a:rPr>
              <a:t> </a:t>
            </a:r>
            <a:r>
              <a:rPr sz="2000" dirty="0" err="1">
                <a:solidFill>
                  <a:srgbClr val="222222"/>
                </a:solidFill>
              </a:rPr>
              <a:t>humano</a:t>
            </a:r>
            <a:r>
              <a:rPr sz="2000" dirty="0">
                <a:solidFill>
                  <a:srgbClr val="222222"/>
                </a:solidFill>
              </a:rPr>
              <a:t>: </a:t>
            </a:r>
            <a:r>
              <a:rPr sz="2000" dirty="0" err="1">
                <a:solidFill>
                  <a:srgbClr val="222222"/>
                </a:solidFill>
              </a:rPr>
              <a:t>qué</a:t>
            </a:r>
            <a:r>
              <a:rPr sz="2000" dirty="0">
                <a:solidFill>
                  <a:srgbClr val="222222"/>
                </a:solidFill>
              </a:rPr>
              <a:t> </a:t>
            </a:r>
            <a:r>
              <a:rPr lang="es-ES" sz="2000" dirty="0">
                <a:solidFill>
                  <a:srgbClr val="222222"/>
                </a:solidFill>
              </a:rPr>
              <a:t>hay que pedir</a:t>
            </a:r>
            <a:r>
              <a:rPr sz="2000" dirty="0">
                <a:solidFill>
                  <a:srgbClr val="222222"/>
                </a:solidFill>
              </a:rPr>
              <a:t>, </a:t>
            </a:r>
            <a:r>
              <a:rPr sz="2000" dirty="0" err="1">
                <a:solidFill>
                  <a:srgbClr val="222222"/>
                </a:solidFill>
              </a:rPr>
              <a:t>validar</a:t>
            </a:r>
            <a:r>
              <a:rPr sz="2000" dirty="0">
                <a:solidFill>
                  <a:srgbClr val="222222"/>
                </a:solidFill>
              </a:rPr>
              <a:t> y </a:t>
            </a:r>
            <a:r>
              <a:rPr sz="2000" dirty="0" err="1">
                <a:solidFill>
                  <a:srgbClr val="222222"/>
                </a:solidFill>
              </a:rPr>
              <a:t>rechazar</a:t>
            </a:r>
            <a:endParaRPr lang="es-ES" sz="2000" dirty="0">
              <a:solidFill>
                <a:srgbClr val="222222"/>
              </a:solidFill>
            </a:endParaRPr>
          </a:p>
          <a:p>
            <a:pPr>
              <a:spcAft>
                <a:spcPts val="1200"/>
              </a:spcAft>
            </a:pPr>
            <a:endParaRPr sz="2000" dirty="0">
              <a:solidFill>
                <a:srgbClr val="222222"/>
              </a:solidFill>
            </a:endParaRPr>
          </a:p>
          <a:p>
            <a:pPr>
              <a:spcAft>
                <a:spcPts val="1200"/>
              </a:spcAft>
            </a:pPr>
            <a:r>
              <a:rPr sz="2000" dirty="0">
                <a:solidFill>
                  <a:srgbClr val="222222"/>
                </a:solidFill>
              </a:rPr>
              <a:t>•  </a:t>
            </a:r>
            <a:r>
              <a:rPr sz="2000" dirty="0" err="1">
                <a:solidFill>
                  <a:srgbClr val="222222"/>
                </a:solidFill>
              </a:rPr>
              <a:t>Separar</a:t>
            </a:r>
            <a:r>
              <a:rPr sz="2000" dirty="0">
                <a:solidFill>
                  <a:srgbClr val="222222"/>
                </a:solidFill>
              </a:rPr>
              <a:t> </a:t>
            </a:r>
            <a:r>
              <a:rPr sz="2000" dirty="0" err="1">
                <a:solidFill>
                  <a:srgbClr val="222222"/>
                </a:solidFill>
              </a:rPr>
              <a:t>lógica</a:t>
            </a:r>
            <a:r>
              <a:rPr sz="2000" dirty="0">
                <a:solidFill>
                  <a:srgbClr val="222222"/>
                </a:solidFill>
              </a:rPr>
              <a:t> </a:t>
            </a:r>
            <a:r>
              <a:rPr sz="2000" dirty="0" err="1">
                <a:solidFill>
                  <a:srgbClr val="222222"/>
                </a:solidFill>
              </a:rPr>
              <a:t>determinista</a:t>
            </a:r>
            <a:r>
              <a:rPr sz="2000" dirty="0">
                <a:solidFill>
                  <a:srgbClr val="222222"/>
                </a:solidFill>
              </a:rPr>
              <a:t> de la IA-</a:t>
            </a:r>
            <a:r>
              <a:rPr sz="2000" dirty="0" err="1">
                <a:solidFill>
                  <a:srgbClr val="222222"/>
                </a:solidFill>
              </a:rPr>
              <a:t>herramienta</a:t>
            </a:r>
            <a:r>
              <a:rPr sz="2000" dirty="0">
                <a:solidFill>
                  <a:srgbClr val="222222"/>
                </a:solidFill>
              </a:rPr>
              <a:t> da un </a:t>
            </a:r>
            <a:r>
              <a:rPr sz="2000" dirty="0" err="1">
                <a:solidFill>
                  <a:srgbClr val="222222"/>
                </a:solidFill>
              </a:rPr>
              <a:t>sistema</a:t>
            </a:r>
            <a:r>
              <a:rPr sz="2000" dirty="0">
                <a:solidFill>
                  <a:srgbClr val="222222"/>
                </a:solidFill>
              </a:rPr>
              <a:t> </a:t>
            </a:r>
            <a:r>
              <a:rPr sz="2000" dirty="0" err="1">
                <a:solidFill>
                  <a:srgbClr val="222222"/>
                </a:solidFill>
              </a:rPr>
              <a:t>fiable</a:t>
            </a:r>
            <a:r>
              <a:rPr sz="2000" dirty="0">
                <a:solidFill>
                  <a:srgbClr val="222222"/>
                </a:solidFill>
              </a:rPr>
              <a:t> y auditable</a:t>
            </a:r>
            <a:endParaRPr lang="es-ES" sz="2000" dirty="0">
              <a:solidFill>
                <a:srgbClr val="222222"/>
              </a:solidFill>
            </a:endParaRPr>
          </a:p>
          <a:p>
            <a:pPr>
              <a:spcAft>
                <a:spcPts val="1200"/>
              </a:spcAft>
            </a:pPr>
            <a:endParaRPr sz="2000" dirty="0">
              <a:solidFill>
                <a:srgbClr val="222222"/>
              </a:solidFill>
            </a:endParaRPr>
          </a:p>
          <a:p>
            <a:pPr>
              <a:spcAft>
                <a:spcPts val="1200"/>
              </a:spcAft>
            </a:pPr>
            <a:r>
              <a:rPr sz="2000" dirty="0">
                <a:solidFill>
                  <a:srgbClr val="222222"/>
                </a:solidFill>
              </a:rPr>
              <a:t>•  </a:t>
            </a:r>
            <a:r>
              <a:rPr sz="2000" dirty="0" err="1">
                <a:solidFill>
                  <a:srgbClr val="222222"/>
                </a:solidFill>
              </a:rPr>
              <a:t>Versionar</a:t>
            </a:r>
            <a:r>
              <a:rPr sz="2000" dirty="0">
                <a:solidFill>
                  <a:srgbClr val="222222"/>
                </a:solidFill>
              </a:rPr>
              <a:t> </a:t>
            </a:r>
            <a:r>
              <a:rPr sz="2000" dirty="0" err="1">
                <a:solidFill>
                  <a:srgbClr val="222222"/>
                </a:solidFill>
              </a:rPr>
              <a:t>los</a:t>
            </a:r>
            <a:r>
              <a:rPr sz="2000" dirty="0">
                <a:solidFill>
                  <a:srgbClr val="222222"/>
                </a:solidFill>
              </a:rPr>
              <a:t> prompts es tan </a:t>
            </a:r>
            <a:r>
              <a:rPr sz="2000" dirty="0" err="1">
                <a:solidFill>
                  <a:srgbClr val="222222"/>
                </a:solidFill>
              </a:rPr>
              <a:t>importante</a:t>
            </a:r>
            <a:r>
              <a:rPr sz="2000" dirty="0">
                <a:solidFill>
                  <a:srgbClr val="222222"/>
                </a:solidFill>
              </a:rPr>
              <a:t> </a:t>
            </a:r>
            <a:r>
              <a:rPr sz="2000" dirty="0" err="1">
                <a:solidFill>
                  <a:srgbClr val="222222"/>
                </a:solidFill>
              </a:rPr>
              <a:t>como</a:t>
            </a:r>
            <a:r>
              <a:rPr sz="2000" dirty="0">
                <a:solidFill>
                  <a:srgbClr val="222222"/>
                </a:solidFill>
              </a:rPr>
              <a:t> </a:t>
            </a:r>
            <a:r>
              <a:rPr sz="2000" dirty="0" err="1">
                <a:solidFill>
                  <a:srgbClr val="222222"/>
                </a:solidFill>
              </a:rPr>
              <a:t>versionar</a:t>
            </a:r>
            <a:r>
              <a:rPr sz="2000" dirty="0">
                <a:solidFill>
                  <a:srgbClr val="222222"/>
                </a:solidFill>
              </a:rPr>
              <a:t> el </a:t>
            </a:r>
            <a:r>
              <a:rPr sz="2000" dirty="0" err="1">
                <a:solidFill>
                  <a:srgbClr val="222222"/>
                </a:solidFill>
              </a:rPr>
              <a:t>código</a:t>
            </a:r>
            <a:endParaRPr sz="2000" dirty="0">
              <a:solidFill>
                <a:srgbClr val="222222"/>
              </a:solidFill>
            </a:endParaRPr>
          </a:p>
        </p:txBody>
      </p:sp>
      <p:sp>
        <p:nvSpPr>
          <p:cNvPr id="8" name="Oval 7"/>
          <p:cNvSpPr/>
          <p:nvPr/>
        </p:nvSpPr>
        <p:spPr>
          <a:xfrm>
            <a:off x="9822027" y="533227"/>
            <a:ext cx="960120" cy="960120"/>
          </a:xfrm>
          <a:prstGeom prst="ellipse">
            <a:avLst/>
          </a:prstGeom>
          <a:solidFill>
            <a:srgbClr val="9CC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rapezoid 8"/>
          <p:cNvSpPr/>
          <p:nvPr/>
        </p:nvSpPr>
        <p:spPr>
          <a:xfrm rot="10800000">
            <a:off x="10078059" y="1464896"/>
            <a:ext cx="457200" cy="256032"/>
          </a:xfrm>
          <a:prstGeom prst="trapezoid">
            <a:avLst/>
          </a:prstGeom>
          <a:solidFill>
            <a:srgbClr val="8A8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0" name="Connector 9"/>
          <p:cNvCxnSpPr/>
          <p:nvPr/>
        </p:nvCxnSpPr>
        <p:spPr>
          <a:xfrm flipH="1" flipV="1">
            <a:off x="9858902" y="443343"/>
            <a:ext cx="125875" cy="179768"/>
          </a:xfrm>
          <a:prstGeom prst="line">
            <a:avLst/>
          </a:prstGeom>
          <a:ln w="22225">
            <a:solidFill>
              <a:srgbClr val="1B2A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0302087" y="248744"/>
            <a:ext cx="0" cy="274320"/>
          </a:xfrm>
          <a:prstGeom prst="line">
            <a:avLst/>
          </a:prstGeom>
          <a:ln w="22225">
            <a:solidFill>
              <a:srgbClr val="1B2A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0619396" y="443343"/>
            <a:ext cx="125875" cy="179768"/>
          </a:xfrm>
          <a:prstGeom prst="line">
            <a:avLst/>
          </a:prstGeom>
          <a:ln w="22225">
            <a:solidFill>
              <a:srgbClr val="1B2A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156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FFFFFF"/>
                </a:solidFill>
              </a:rPr>
              <a:t>¡Gracias!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3063240"/>
            <a:ext cx="1280160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3337560"/>
            <a:ext cx="10515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C7D3E8"/>
                </a:solidFill>
              </a:rPr>
              <a:t>Repositorio: `github.com/jbroceno/rule_engine`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C7D3E8"/>
                </a:solidFill>
              </a:rPr>
              <a:t>Despliegue: https://tfm-bigschool.broceno.com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C7D3E8"/>
                </a:solidFill>
              </a:rPr>
              <a:t>Slides: enlace en el README · Video: pendiente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C7D3E8"/>
                </a:solidFill>
              </a:rPr>
              <a:t>Jesús M. Broceño · TFM BIG School ·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</TotalTime>
  <Words>1597</Words>
  <Application>Microsoft Office PowerPoint</Application>
  <PresentationFormat>Panorámica</PresentationFormat>
  <Paragraphs>162</Paragraphs>
  <Slides>16</Slides>
  <Notes>16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Jesús M. Broceño</cp:lastModifiedBy>
  <cp:revision>5</cp:revision>
  <dcterms:created xsi:type="dcterms:W3CDTF">2013-01-27T09:14:16Z</dcterms:created>
  <dcterms:modified xsi:type="dcterms:W3CDTF">2026-07-09T23:22:38Z</dcterms:modified>
  <cp:category/>
</cp:coreProperties>
</file>